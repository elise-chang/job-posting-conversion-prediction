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Poppins"/>
      <p:regular r:id="rId41"/>
      <p:bold r:id="rId42"/>
      <p:italic r:id="rId43"/>
      <p:boldItalic r:id="rId44"/>
    </p:embeddedFont>
    <p:embeddedFont>
      <p:font typeface="Anaheim"/>
      <p:regular r:id="rId45"/>
      <p:bold r:id="rId46"/>
    </p:embeddedFont>
    <p:embeddedFont>
      <p:font typeface="Poppins Black"/>
      <p:bold r:id="rId47"/>
      <p:boldItalic r:id="rId48"/>
    </p:embeddedFont>
    <p:embeddedFont>
      <p:font typeface="Barlow Medium"/>
      <p:regular r:id="rId49"/>
      <p:bold r:id="rId50"/>
      <p:italic r:id="rId51"/>
      <p:boldItalic r:id="rId52"/>
    </p:embeddedFont>
    <p:embeddedFont>
      <p:font typeface="Roboto Mono"/>
      <p:regular r:id="rId53"/>
      <p:bold r:id="rId54"/>
      <p:italic r:id="rId55"/>
      <p:boldItalic r:id="rId56"/>
    </p:embeddedFont>
    <p:embeddedFont>
      <p:font typeface="Barlow"/>
      <p:regular r:id="rId57"/>
      <p:bold r:id="rId58"/>
      <p:italic r:id="rId59"/>
      <p:boldItalic r:id="rId60"/>
    </p:embeddedFont>
    <p:embeddedFont>
      <p:font typeface="Poppins ExtraBold"/>
      <p:bold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Poppins-bold.fntdata"/><Relationship Id="rId41" Type="http://schemas.openxmlformats.org/officeDocument/2006/relationships/font" Target="fonts/Poppins-regular.fntdata"/><Relationship Id="rId44" Type="http://schemas.openxmlformats.org/officeDocument/2006/relationships/font" Target="fonts/Poppins-boldItalic.fntdata"/><Relationship Id="rId43" Type="http://schemas.openxmlformats.org/officeDocument/2006/relationships/font" Target="fonts/Poppins-italic.fntdata"/><Relationship Id="rId46" Type="http://schemas.openxmlformats.org/officeDocument/2006/relationships/font" Target="fonts/Anaheim-bold.fntdata"/><Relationship Id="rId45" Type="http://schemas.openxmlformats.org/officeDocument/2006/relationships/font" Target="fonts/Anahei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Black-boldItalic.fntdata"/><Relationship Id="rId47" Type="http://schemas.openxmlformats.org/officeDocument/2006/relationships/font" Target="fonts/PoppinsBlack-bold.fntdata"/><Relationship Id="rId49" Type="http://schemas.openxmlformats.org/officeDocument/2006/relationships/font" Target="fonts/Barlow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Raleway-regular.fntdata"/><Relationship Id="rId36" Type="http://schemas.openxmlformats.org/officeDocument/2006/relationships/slide" Target="slides/slide31.xml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62" Type="http://schemas.openxmlformats.org/officeDocument/2006/relationships/font" Target="fonts/PoppinsExtraBold-boldItalic.fntdata"/><Relationship Id="rId61" Type="http://schemas.openxmlformats.org/officeDocument/2006/relationships/font" Target="fonts/PoppinsExtraBold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Barlow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BarlowMedium-italic.fntdata"/><Relationship Id="rId50" Type="http://schemas.openxmlformats.org/officeDocument/2006/relationships/font" Target="fonts/BarlowMedium-bold.fntdata"/><Relationship Id="rId53" Type="http://schemas.openxmlformats.org/officeDocument/2006/relationships/font" Target="fonts/RobotoMono-regular.fntdata"/><Relationship Id="rId52" Type="http://schemas.openxmlformats.org/officeDocument/2006/relationships/font" Target="fonts/BarlowMedium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Mono-italic.fntdata"/><Relationship Id="rId10" Type="http://schemas.openxmlformats.org/officeDocument/2006/relationships/slide" Target="slides/slide5.xml"/><Relationship Id="rId54" Type="http://schemas.openxmlformats.org/officeDocument/2006/relationships/font" Target="fonts/RobotoMono-bold.fntdata"/><Relationship Id="rId13" Type="http://schemas.openxmlformats.org/officeDocument/2006/relationships/slide" Target="slides/slide8.xml"/><Relationship Id="rId57" Type="http://schemas.openxmlformats.org/officeDocument/2006/relationships/font" Target="fonts/Barlow-regular.fntdata"/><Relationship Id="rId12" Type="http://schemas.openxmlformats.org/officeDocument/2006/relationships/slide" Target="slides/slide7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59" Type="http://schemas.openxmlformats.org/officeDocument/2006/relationships/font" Target="fonts/Barlow-italic.fntdata"/><Relationship Id="rId14" Type="http://schemas.openxmlformats.org/officeDocument/2006/relationships/slide" Target="slides/slide9.xml"/><Relationship Id="rId58" Type="http://schemas.openxmlformats.org/officeDocument/2006/relationships/font" Target="fonts/Barlow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elise start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b8050fb9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ab8050fb9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Many job postings online get a lot of views but very few applications. This is inefficient for hiring teams, and it’s also frustrating for job seekers.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are a lot of reasons a posting might underperform — the text could be unclear, the salary might be missing, the requirements could be too strict, or the employer brand may not be strong.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Low-quality postings end up hurting candidate experience and reduce the number of qualified applicants companies receive.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So, understanding these conversion patterns can help make postings clearer, more transparent, and ultimately more effective. If we can predict low-conversion ahead of time, platforms can flag these postings early and help employers improve them before they lose applicants.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ab8050fb9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ab8050fb9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There are several groups who benefit from this kind of analysis.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And for recruiters or hiring teams</a:t>
            </a:r>
            <a:r>
              <a:rPr lang="en">
                <a:solidFill>
                  <a:schemeClr val="dk1"/>
                </a:solidFill>
              </a:rPr>
              <a:t>, early alerts about underperforming postings let them revise titles, descriptions, or requirements, and better understand what drives applicant engagement.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 job platforms like LinkedIn</a:t>
            </a:r>
            <a:r>
              <a:rPr lang="en">
                <a:solidFill>
                  <a:schemeClr val="dk1"/>
                </a:solidFill>
              </a:rPr>
              <a:t>, improving conversion prediction helps them recommend higher-quality postings and even give automated feedback to employers as they write job descriptions.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 job seekers</a:t>
            </a:r>
            <a:r>
              <a:rPr lang="en">
                <a:solidFill>
                  <a:schemeClr val="dk1"/>
                </a:solidFill>
              </a:rPr>
              <a:t>, clearer postings with salary information and realistic requirements create a better search experience and more relevant matches.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Overall, improving conversion prediction enhances posting effectiveness across the whole platform.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ab8050fb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ab8050fb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main research question was: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Can we reliably predict whether a job posting will be low-conversion — meaning it receives few applicants per view — or normal conversion?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Along with that, we had a few broader goals: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Identify which features most strongly influence applicant behavior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Understand what characteristics correlate with poor conversion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And ultimately, provide actionable insights that help improve posting quality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our project isn’t just about predictive accuracy — we also want to understand </a:t>
            </a:r>
            <a:r>
              <a:rPr i="1" lang="en">
                <a:solidFill>
                  <a:schemeClr val="dk1"/>
                </a:solidFill>
              </a:rPr>
              <a:t>why</a:t>
            </a:r>
            <a:r>
              <a:rPr lang="en">
                <a:solidFill>
                  <a:schemeClr val="dk1"/>
                </a:solidFill>
              </a:rPr>
              <a:t> certain posts perform differently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b8050fb91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ab8050fb91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cefc9974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acefc9974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our analysis, we used a large dataset of over 124,000 job postings from LinkedIn from 2023 to 2024.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dataset is real and diverse — covering thousands of companies, industries, and job types — which helps the model generalize better than synthetic data would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ab8050fb9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ab8050fb9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dataset comes from three connected files.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Postings file</a:t>
            </a:r>
            <a:r>
              <a:rPr lang="en">
                <a:solidFill>
                  <a:schemeClr val="dk1"/>
                </a:solidFill>
              </a:rPr>
              <a:t> contains job-level data like the title, full description, skills, salary info, experience level, and remote status.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Companies file</a:t>
            </a:r>
            <a:r>
              <a:rPr lang="en">
                <a:solidFill>
                  <a:schemeClr val="dk1"/>
                </a:solidFill>
              </a:rPr>
              <a:t> gives us company-level information such as company name, company size, or location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</a:t>
            </a:r>
            <a:r>
              <a:rPr b="1" lang="en">
                <a:solidFill>
                  <a:schemeClr val="dk1"/>
                </a:solidFill>
              </a:rPr>
              <a:t>Employee Counts file</a:t>
            </a:r>
            <a:r>
              <a:rPr lang="en">
                <a:solidFill>
                  <a:schemeClr val="dk1"/>
                </a:solidFill>
              </a:rPr>
              <a:t> includes employee count and number of linkedin followers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Together, these give us both textual and structured features describing each posting.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a3d12b7d79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a3d12b7d7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numeric features, we filled missing values using the </a:t>
            </a:r>
            <a:r>
              <a:rPr b="1" lang="en">
                <a:solidFill>
                  <a:schemeClr val="dk1"/>
                </a:solidFill>
              </a:rPr>
              <a:t>median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chose median because it’s robust to outliers — salaries and follower counts can vary by orders of magnitude — so using the mean would distort skewed distributions.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Using the median preserves the shape of the original data and keeps the variability close to the true underlying distribution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categorical features, we filled missing values with an explicit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'missing'</a:t>
            </a:r>
            <a:r>
              <a:rPr lang="en">
                <a:solidFill>
                  <a:schemeClr val="dk1"/>
                </a:solidFill>
              </a:rPr>
              <a:t> label.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some categories, missingness is itself meaningful — for example, not specifying a pay period can actually signal something about the posting.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Labeling it explicitly avoids creating false categories and keeps the original category distribution intact.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acefc9974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acefc9974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define our target, we computed a conversion rate for each posting using </a:t>
            </a:r>
            <a:r>
              <a:rPr b="1" lang="en">
                <a:solidFill>
                  <a:schemeClr val="dk1"/>
                </a:solidFill>
              </a:rPr>
              <a:t>applies divided by views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then used quantiles to set thresholds: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Low conversion is defined as the </a:t>
            </a:r>
            <a:r>
              <a:rPr b="1" lang="en">
                <a:solidFill>
                  <a:schemeClr val="dk1"/>
                </a:solidFill>
              </a:rPr>
              <a:t>bottom 25%</a:t>
            </a:r>
            <a:r>
              <a:rPr lang="en">
                <a:solidFill>
                  <a:schemeClr val="dk1"/>
                </a:solidFill>
              </a:rPr>
              <a:t> of postings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 or normal conversion is the </a:t>
            </a:r>
            <a:r>
              <a:rPr b="1" lang="en">
                <a:solidFill>
                  <a:schemeClr val="dk1"/>
                </a:solidFill>
              </a:rPr>
              <a:t>top 75%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gives us a balanced and data-driven way to identify underperforming postings.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ab8050fb9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ab8050fb9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elise 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Before modeling, we filtered out invalid or noisy rows.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removed postings with missing applies or views, or cases where views were zero or negative.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also dropped the top 1% of extreme conversion outliers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avoid target leakage, we removed columns like applies, views, and conversion rate — because those wouldn’t be available at posting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Importantly, we didn’t restrict by industry, region, role type, or language, because preserving diversity helps the model generalize better.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acf8bc45e5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acf8bc45e5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acf8bc45e5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acf8bc45e5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ab8050f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ab8050f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acf8bc45e5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acf8bc45e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acf8bc45e5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acf8bc45e5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ab8050fb91_1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ab8050fb91_1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ab8050fb91_1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3ab8050fb91_1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b8050fb91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3ab8050fb91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acefc997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acefc997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linear features, all weak, trees struggle to split, logistic regression excel, text is dense, efficiency tradeoff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Logistic Regression is the only model that uses the full text information (via TF-IDF embeddings), while the tree-based models drop text entirely, LR has access to far more predictive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text because matrix because super sparse and big, which tree models struggle with.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Job posting text contains the strongest indicators of conversion (job title wording, skills mentioned, industry, role type, tone).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Since tree models only use structured features—which are weaker and more subtle signals—they naturally underperform.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Additionally: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relationship between structured features and conversion is mostly linear and additive, which LR captures well.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Tree models seek nonlinear interactions that don’t strongly exist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LR handles high-dimensional sparse text data extremely well; tree models do not.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acefc9974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acefc9974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acefc9974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acefc9974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ab8050fb91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ab8050fb91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acefc99740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acefc99740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acefc9974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acefc9974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cefc9974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acefc9974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acefc9974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acefc9974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54dda1946d_6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54dda1946d_6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 rot="10800000">
              <a:off x="8291042" y="569492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2"/>
          <p:cNvSpPr txBox="1"/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3"/>
          <p:cNvSpPr txBox="1"/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flipH="1" rot="10800000">
              <a:off x="-522276" y="-13020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"/>
          <p:cNvGrpSpPr/>
          <p:nvPr/>
        </p:nvGrpSpPr>
        <p:grpSpPr>
          <a:xfrm>
            <a:off x="-1093351" y="-1466368"/>
            <a:ext cx="10388326" cy="8402728"/>
            <a:chOff x="-1093351" y="-1466368"/>
            <a:chExt cx="10388326" cy="8402728"/>
          </a:xfrm>
        </p:grpSpPr>
        <p:sp>
          <p:nvSpPr>
            <p:cNvPr id="75" name="Google Shape;75;p5"/>
            <p:cNvSpPr/>
            <p:nvPr/>
          </p:nvSpPr>
          <p:spPr>
            <a:xfrm flipH="1" rot="10800000">
              <a:off x="-3" y="-1466368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1093351" y="45672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1" type="subTitle"/>
          </p:nvPr>
        </p:nvSpPr>
        <p:spPr>
          <a:xfrm>
            <a:off x="6360578" y="3454300"/>
            <a:ext cx="17739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5"/>
          <p:cNvSpPr txBox="1"/>
          <p:nvPr>
            <p:ph idx="2" type="subTitle"/>
          </p:nvPr>
        </p:nvSpPr>
        <p:spPr>
          <a:xfrm>
            <a:off x="2644083" y="3454300"/>
            <a:ext cx="177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5"/>
          <p:cNvSpPr txBox="1"/>
          <p:nvPr>
            <p:ph idx="3" type="subTitle"/>
          </p:nvPr>
        </p:nvSpPr>
        <p:spPr>
          <a:xfrm>
            <a:off x="6360575" y="2714800"/>
            <a:ext cx="17739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81" name="Google Shape;81;p5"/>
          <p:cNvSpPr txBox="1"/>
          <p:nvPr>
            <p:ph idx="4" type="subTitle"/>
          </p:nvPr>
        </p:nvSpPr>
        <p:spPr>
          <a:xfrm>
            <a:off x="2643925" y="2714800"/>
            <a:ext cx="17706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82" name="Google Shape;82;p5"/>
          <p:cNvGrpSpPr/>
          <p:nvPr/>
        </p:nvGrpSpPr>
        <p:grpSpPr>
          <a:xfrm>
            <a:off x="7568059" y="4604012"/>
            <a:ext cx="3010303" cy="380635"/>
            <a:chOff x="5446772" y="1743190"/>
            <a:chExt cx="3010303" cy="380635"/>
          </a:xfrm>
        </p:grpSpPr>
        <p:grpSp>
          <p:nvGrpSpPr>
            <p:cNvPr id="83" name="Google Shape;83;p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84" name="Google Shape;84;p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" name="Google Shape;85;p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" name="Google Shape;86;p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87" name="Google Shape;87;p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" name="Google Shape;89;p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90" name="Google Shape;90;p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5"/>
          <p:cNvSpPr/>
          <p:nvPr/>
        </p:nvSpPr>
        <p:spPr>
          <a:xfrm flipH="1">
            <a:off x="-831826" y="-3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 flipH="1" rot="10800000">
            <a:off x="7378450" y="-807272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 flipH="1" rot="10800000">
            <a:off x="-1358733" y="-903765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10800000">
            <a:off x="-984940" y="165546"/>
            <a:ext cx="3074607" cy="453954"/>
            <a:chOff x="5478797" y="847321"/>
            <a:chExt cx="3074607" cy="453954"/>
          </a:xfrm>
        </p:grpSpPr>
        <p:grpSp>
          <p:nvGrpSpPr>
            <p:cNvPr id="97" name="Google Shape;97;p6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98" name="Google Shape;98;p6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" name="Google Shape;99;p6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6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101" name="Google Shape;101;p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2" name="Google Shape;102;p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6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104" name="Google Shape;104;p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" name="Google Shape;105;p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6" name="Google Shape;106;p6"/>
          <p:cNvSpPr/>
          <p:nvPr/>
        </p:nvSpPr>
        <p:spPr>
          <a:xfrm rot="10800000">
            <a:off x="6000549" y="-1553122"/>
            <a:ext cx="3520399" cy="184160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13224" y="4972674"/>
            <a:ext cx="1205478" cy="219752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6"/>
          <p:cNvGrpSpPr/>
          <p:nvPr/>
        </p:nvGrpSpPr>
        <p:grpSpPr>
          <a:xfrm flipH="1">
            <a:off x="-3634650" y="4404925"/>
            <a:ext cx="5724316" cy="2084515"/>
            <a:chOff x="4132575" y="4716825"/>
            <a:chExt cx="5724316" cy="2084515"/>
          </a:xfrm>
        </p:grpSpPr>
        <p:sp>
          <p:nvSpPr>
            <p:cNvPr id="109" name="Google Shape;109;p6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rect b="b" l="l" r="r" t="t"/>
              <a:pathLst>
                <a:path extrusionOk="0" h="47185" w="101749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4" name="Google Shape;114;p7"/>
          <p:cNvSpPr txBox="1"/>
          <p:nvPr>
            <p:ph idx="1" type="subTitle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5" name="Google Shape;115;p7"/>
          <p:cNvSpPr/>
          <p:nvPr>
            <p:ph idx="2" type="pic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 flipH="1" rot="10800000">
            <a:off x="-1594613" y="-603810"/>
            <a:ext cx="3247250" cy="1698710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rect b="b" l="l" r="r" t="t"/>
                <a:pathLst>
                  <a:path extrusionOk="0" h="4203" w="22325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flipH="1" rot="10800000">
              <a:off x="-1320285" y="-22921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8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rect b="b" l="l" r="r" t="t"/>
                    <a:pathLst>
                      <a:path extrusionOk="0" h="5994" w="7755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subTitle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rect b="b" l="l" r="r" t="t"/>
              <a:pathLst>
                <a:path extrusionOk="0" h="2901" w="2868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flipH="1" rot="10800000">
              <a:off x="-427494" y="809776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flipH="1" rot="10800000">
              <a:off x="7861425" y="-9594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flipH="1" rot="10800000">
              <a:off x="-591414" y="-2175664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1"/>
          <p:cNvGrpSpPr/>
          <p:nvPr/>
        </p:nvGrpSpPr>
        <p:grpSpPr>
          <a:xfrm flipH="1" rot="10800000">
            <a:off x="-3394" y="-2273839"/>
            <a:ext cx="9804518" cy="8448224"/>
            <a:chOff x="-3394" y="-1706421"/>
            <a:chExt cx="9804518" cy="8448224"/>
          </a:xfrm>
        </p:grpSpPr>
        <p:sp>
          <p:nvSpPr>
            <p:cNvPr id="214" name="Google Shape;214;p11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-1" y="379782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 rot="10800000">
              <a:off x="-3394" y="-1706421"/>
              <a:ext cx="9150782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>
            <p:ph hasCustomPrompt="1" type="title"/>
          </p:nvPr>
        </p:nvSpPr>
        <p:spPr>
          <a:xfrm>
            <a:off x="3025725" y="1918850"/>
            <a:ext cx="4078800" cy="76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5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b="0"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1"/>
          <p:cNvSpPr txBox="1"/>
          <p:nvPr>
            <p:ph idx="1" type="subTitle"/>
          </p:nvPr>
        </p:nvSpPr>
        <p:spPr>
          <a:xfrm>
            <a:off x="3025725" y="2697650"/>
            <a:ext cx="4078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19" name="Google Shape;219;p11"/>
          <p:cNvGrpSpPr/>
          <p:nvPr/>
        </p:nvGrpSpPr>
        <p:grpSpPr>
          <a:xfrm>
            <a:off x="998171" y="-8"/>
            <a:ext cx="6608794" cy="5143512"/>
            <a:chOff x="998171" y="-8"/>
            <a:chExt cx="6608794" cy="5143512"/>
          </a:xfrm>
        </p:grpSpPr>
        <p:sp>
          <p:nvSpPr>
            <p:cNvPr id="220" name="Google Shape;220;p11"/>
            <p:cNvSpPr/>
            <p:nvPr/>
          </p:nvSpPr>
          <p:spPr>
            <a:xfrm rot="10800000">
              <a:off x="998171" y="4876498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66001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flipH="1" rot="10800000">
            <a:off x="-1443375" y="-2220551"/>
            <a:ext cx="11922622" cy="9653454"/>
            <a:chOff x="-1443375" y="-2964939"/>
            <a:chExt cx="11922622" cy="9653454"/>
          </a:xfrm>
        </p:grpSpPr>
        <p:grpSp>
          <p:nvGrpSpPr>
            <p:cNvPr id="223" name="Google Shape;223;p11"/>
            <p:cNvGrpSpPr/>
            <p:nvPr/>
          </p:nvGrpSpPr>
          <p:grpSpPr>
            <a:xfrm>
              <a:off x="6475250" y="3928475"/>
              <a:ext cx="4003997" cy="2064658"/>
              <a:chOff x="5557850" y="3928475"/>
              <a:chExt cx="4003997" cy="2064658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5557850" y="3928475"/>
                <a:ext cx="2805272" cy="1537408"/>
              </a:xfrm>
              <a:custGeom>
                <a:rect b="b" l="l" r="r" t="t"/>
                <a:pathLst>
                  <a:path extrusionOk="0" h="48014" w="8761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11"/>
            <p:cNvGrpSpPr/>
            <p:nvPr/>
          </p:nvGrpSpPr>
          <p:grpSpPr>
            <a:xfrm>
              <a:off x="-1443375" y="3908625"/>
              <a:ext cx="5889466" cy="2779890"/>
              <a:chOff x="-1394450" y="3908625"/>
              <a:chExt cx="5889466" cy="2779890"/>
            </a:xfrm>
          </p:grpSpPr>
          <p:sp>
            <p:nvSpPr>
              <p:cNvPr id="227" name="Google Shape;227;p11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>
                <a:off x="-1394450" y="39086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9" name="Google Shape;229;p11"/>
            <p:cNvSpPr/>
            <p:nvPr/>
          </p:nvSpPr>
          <p:spPr>
            <a:xfrm rot="10800000">
              <a:off x="-377487" y="-1412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 rot="10800000">
              <a:off x="4605266" y="-2964939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13"/>
          <p:cNvSpPr txBox="1"/>
          <p:nvPr>
            <p:ph idx="1" type="subTitle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7" name="Google Shape;237;p13"/>
          <p:cNvSpPr txBox="1"/>
          <p:nvPr>
            <p:ph idx="2" type="subTitle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8" name="Google Shape;238;p13"/>
          <p:cNvSpPr txBox="1"/>
          <p:nvPr>
            <p:ph idx="3" type="subTitle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39" name="Google Shape;239;p13"/>
          <p:cNvSpPr txBox="1"/>
          <p:nvPr>
            <p:ph idx="4" type="subTitle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0" name="Google Shape;240;p13"/>
          <p:cNvSpPr txBox="1"/>
          <p:nvPr>
            <p:ph idx="5" type="subTitle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241" name="Google Shape;241;p13"/>
          <p:cNvSpPr txBox="1"/>
          <p:nvPr>
            <p:ph idx="6" type="subTitle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2" name="Google Shape;2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13"/>
          <p:cNvSpPr txBox="1"/>
          <p:nvPr>
            <p:ph hasCustomPrompt="1" idx="7" type="title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8" type="title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9" type="title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13" type="title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14" type="title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hasCustomPrompt="1" idx="15" type="title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b="0" sz="3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flipH="1" rot="10800000">
              <a:off x="0" y="-8273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14"/>
          <p:cNvSpPr txBox="1"/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4" name="Google Shape;274;p14"/>
          <p:cNvSpPr txBox="1"/>
          <p:nvPr>
            <p:ph idx="1" type="subTitle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>
            <p:ph type="title"/>
          </p:nvPr>
        </p:nvSpPr>
        <p:spPr>
          <a:xfrm>
            <a:off x="1103225" y="1490900"/>
            <a:ext cx="3169200" cy="16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15"/>
          <p:cNvSpPr txBox="1"/>
          <p:nvPr>
            <p:ph idx="1" type="subTitle"/>
          </p:nvPr>
        </p:nvSpPr>
        <p:spPr>
          <a:xfrm>
            <a:off x="1103225" y="3187975"/>
            <a:ext cx="31692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15"/>
          <p:cNvSpPr/>
          <p:nvPr>
            <p:ph idx="2" type="pic"/>
          </p:nvPr>
        </p:nvSpPr>
        <p:spPr>
          <a:xfrm>
            <a:off x="4272425" y="613850"/>
            <a:ext cx="3768300" cy="379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4" name="Google Shape;284;p15"/>
          <p:cNvGrpSpPr/>
          <p:nvPr/>
        </p:nvGrpSpPr>
        <p:grpSpPr>
          <a:xfrm flipH="1" rot="10800000">
            <a:off x="-1536301" y="-1730518"/>
            <a:ext cx="10804826" cy="8381753"/>
            <a:chOff x="-1589201" y="-1194493"/>
            <a:chExt cx="10804826" cy="8381753"/>
          </a:xfrm>
        </p:grpSpPr>
        <p:sp>
          <p:nvSpPr>
            <p:cNvPr id="285" name="Google Shape;285;p15"/>
            <p:cNvSpPr/>
            <p:nvPr/>
          </p:nvSpPr>
          <p:spPr>
            <a:xfrm flipH="1" rot="10800000">
              <a:off x="-79353" y="-119449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-1589201" y="4818100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5"/>
          <p:cNvSpPr/>
          <p:nvPr/>
        </p:nvSpPr>
        <p:spPr>
          <a:xfrm flipH="1" rot="10800000">
            <a:off x="6778074" y="4876489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378450" y="429690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 flipH="1">
            <a:off x="-1397466" y="738820"/>
            <a:ext cx="3010303" cy="380635"/>
            <a:chOff x="5446772" y="1743190"/>
            <a:chExt cx="3010303" cy="380635"/>
          </a:xfrm>
        </p:grpSpPr>
        <p:grpSp>
          <p:nvGrpSpPr>
            <p:cNvPr id="290" name="Google Shape;290;p15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91" name="Google Shape;291;p1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2" name="Google Shape;292;p1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95" name="Google Shape;295;p1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6" name="Google Shape;296;p15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97" name="Google Shape;297;p1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8" name="Google Shape;298;p1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872400" y="1637550"/>
            <a:ext cx="32241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6"/>
          <p:cNvSpPr txBox="1"/>
          <p:nvPr>
            <p:ph idx="1" type="subTitle"/>
          </p:nvPr>
        </p:nvSpPr>
        <p:spPr>
          <a:xfrm>
            <a:off x="872400" y="2700750"/>
            <a:ext cx="32241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02" name="Google Shape;302;p16"/>
          <p:cNvGrpSpPr/>
          <p:nvPr/>
        </p:nvGrpSpPr>
        <p:grpSpPr>
          <a:xfrm>
            <a:off x="-213475" y="-435968"/>
            <a:ext cx="10430912" cy="6926993"/>
            <a:chOff x="-213475" y="-435968"/>
            <a:chExt cx="10430912" cy="6926993"/>
          </a:xfrm>
        </p:grpSpPr>
        <p:sp>
          <p:nvSpPr>
            <p:cNvPr id="303" name="Google Shape;303;p16"/>
            <p:cNvSpPr/>
            <p:nvPr/>
          </p:nvSpPr>
          <p:spPr>
            <a:xfrm flipH="1" rot="10800000">
              <a:off x="7412165" y="-4359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 flipH="1">
              <a:off x="-213475" y="4603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6"/>
          <p:cNvGrpSpPr/>
          <p:nvPr/>
        </p:nvGrpSpPr>
        <p:grpSpPr>
          <a:xfrm flipH="1">
            <a:off x="-1986736" y="257018"/>
            <a:ext cx="3567725" cy="692436"/>
            <a:chOff x="5803750" y="1590790"/>
            <a:chExt cx="3567725" cy="692436"/>
          </a:xfrm>
        </p:grpSpPr>
        <p:grpSp>
          <p:nvGrpSpPr>
            <p:cNvPr id="306" name="Google Shape;306;p16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07" name="Google Shape;307;p1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08" name="Google Shape;308;p1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310" name="Google Shape;310;p16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1" name="Google Shape;311;p16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2" name="Google Shape;312;p16"/>
            <p:cNvGrpSpPr/>
            <p:nvPr/>
          </p:nvGrpSpPr>
          <p:grpSpPr>
            <a:xfrm flipH="1">
              <a:off x="6107964" y="1938899"/>
              <a:ext cx="1561280" cy="136187"/>
              <a:chOff x="-154850" y="2676400"/>
              <a:chExt cx="4728285" cy="412439"/>
            </a:xfrm>
          </p:grpSpPr>
          <p:sp>
            <p:nvSpPr>
              <p:cNvPr id="313" name="Google Shape;313;p16"/>
              <p:cNvSpPr/>
              <p:nvPr/>
            </p:nvSpPr>
            <p:spPr>
              <a:xfrm>
                <a:off x="-154850" y="26764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4" name="Google Shape;314;p16"/>
              <p:cNvSpPr/>
              <p:nvPr/>
            </p:nvSpPr>
            <p:spPr>
              <a:xfrm>
                <a:off x="4439036" y="29544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316" name="Google Shape;316;p16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17" name="Google Shape;317;p16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16"/>
          <p:cNvSpPr/>
          <p:nvPr/>
        </p:nvSpPr>
        <p:spPr>
          <a:xfrm rot="10800000">
            <a:off x="-284501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6"/>
          <p:cNvGrpSpPr/>
          <p:nvPr/>
        </p:nvGrpSpPr>
        <p:grpSpPr>
          <a:xfrm>
            <a:off x="-1754525" y="-2478031"/>
            <a:ext cx="12821147" cy="8256735"/>
            <a:chOff x="-1754525" y="-2478031"/>
            <a:chExt cx="12821147" cy="8256735"/>
          </a:xfrm>
        </p:grpSpPr>
        <p:sp>
          <p:nvSpPr>
            <p:cNvPr id="320" name="Google Shape;320;p16"/>
            <p:cNvSpPr/>
            <p:nvPr/>
          </p:nvSpPr>
          <p:spPr>
            <a:xfrm rot="10800000">
              <a:off x="595121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-17545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"/>
          <p:cNvSpPr/>
          <p:nvPr/>
        </p:nvSpPr>
        <p:spPr>
          <a:xfrm rot="10800000">
            <a:off x="666600" y="478394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 flipH="1">
            <a:off x="-1754525" y="4241295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-1259172" y="4634981"/>
            <a:ext cx="5115407" cy="3017539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6644522" y="4451415"/>
            <a:ext cx="3427062" cy="540036"/>
            <a:chOff x="5446772" y="1743190"/>
            <a:chExt cx="3427062" cy="540036"/>
          </a:xfrm>
        </p:grpSpPr>
        <p:grpSp>
          <p:nvGrpSpPr>
            <p:cNvPr id="327" name="Google Shape;327;p17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9" name="Google Shape;329;p1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331" name="Google Shape;331;p1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2" name="Google Shape;332;p1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1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5" name="Google Shape;335;p1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" name="Google Shape;336;p1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337" name="Google Shape;337;p1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8" name="Google Shape;338;p1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9" name="Google Shape;339;p17"/>
          <p:cNvGrpSpPr/>
          <p:nvPr/>
        </p:nvGrpSpPr>
        <p:grpSpPr>
          <a:xfrm>
            <a:off x="-694176" y="-920239"/>
            <a:ext cx="10964574" cy="6661025"/>
            <a:chOff x="-694176" y="-920239"/>
            <a:chExt cx="10964574" cy="6661025"/>
          </a:xfrm>
        </p:grpSpPr>
        <p:sp>
          <p:nvSpPr>
            <p:cNvPr id="340" name="Google Shape;340;p17"/>
            <p:cNvSpPr/>
            <p:nvPr/>
          </p:nvSpPr>
          <p:spPr>
            <a:xfrm flipH="1" rot="10800000">
              <a:off x="-694176" y="-92023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 flipH="1">
              <a:off x="6749999" y="3899186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7"/>
          <p:cNvSpPr txBox="1"/>
          <p:nvPr>
            <p:ph type="title"/>
          </p:nvPr>
        </p:nvSpPr>
        <p:spPr>
          <a:xfrm>
            <a:off x="5200875" y="1926400"/>
            <a:ext cx="307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3" name="Google Shape;343;p17"/>
          <p:cNvSpPr txBox="1"/>
          <p:nvPr>
            <p:ph idx="1" type="subTitle"/>
          </p:nvPr>
        </p:nvSpPr>
        <p:spPr>
          <a:xfrm>
            <a:off x="5201025" y="2562000"/>
            <a:ext cx="30774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18"/>
          <p:cNvGrpSpPr/>
          <p:nvPr/>
        </p:nvGrpSpPr>
        <p:grpSpPr>
          <a:xfrm>
            <a:off x="-1289846" y="-464980"/>
            <a:ext cx="3520400" cy="7145645"/>
            <a:chOff x="-1289846" y="-464980"/>
            <a:chExt cx="3520400" cy="7145645"/>
          </a:xfrm>
        </p:grpSpPr>
        <p:sp>
          <p:nvSpPr>
            <p:cNvPr id="346" name="Google Shape;346;p18"/>
            <p:cNvSpPr/>
            <p:nvPr/>
          </p:nvSpPr>
          <p:spPr>
            <a:xfrm flipH="1" rot="10800000">
              <a:off x="-305811" y="-464980"/>
              <a:ext cx="1920158" cy="1004478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-1289846" y="460400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18"/>
          <p:cNvSpPr txBox="1"/>
          <p:nvPr>
            <p:ph idx="1" type="subTitle"/>
          </p:nvPr>
        </p:nvSpPr>
        <p:spPr>
          <a:xfrm>
            <a:off x="713225" y="1071950"/>
            <a:ext cx="38481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18"/>
          <p:cNvSpPr/>
          <p:nvPr/>
        </p:nvSpPr>
        <p:spPr>
          <a:xfrm flipH="1">
            <a:off x="-871159" y="5394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 flipH="1" rot="10800000">
            <a:off x="-2006799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18"/>
          <p:cNvGrpSpPr/>
          <p:nvPr/>
        </p:nvGrpSpPr>
        <p:grpSpPr>
          <a:xfrm flipH="1">
            <a:off x="7324525" y="151290"/>
            <a:ext cx="3296400" cy="703085"/>
            <a:chOff x="-12" y="3628590"/>
            <a:chExt cx="3296400" cy="703085"/>
          </a:xfrm>
        </p:grpSpPr>
        <p:grpSp>
          <p:nvGrpSpPr>
            <p:cNvPr id="353" name="Google Shape;353;p1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354" name="Google Shape;354;p1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5" name="Google Shape;355;p1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6" name="Google Shape;356;p1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357" name="Google Shape;357;p1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1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1" name="Google Shape;361;p1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1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363" name="Google Shape;363;p1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64" name="Google Shape;364;p1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flipH="1" rot="10800000">
              <a:off x="7028137" y="-635197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rect b="b" l="l" r="r" t="t"/>
                <a:pathLst>
                  <a:path extrusionOk="0" h="47185" w="101749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1" type="subTitle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flipH="1" rot="10800000">
              <a:off x="-201825" y="-1528931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1" type="subTitle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2" type="subTitle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3" type="subTitle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4" type="subTitle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2" type="subTitle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flipH="1" rot="10800000">
            <a:off x="5675306" y="4959976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flipH="1" rot="10800000">
              <a:off x="-2306160" y="-314058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flipH="1" rot="10800000">
              <a:off x="7082099" y="4876491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flipH="1" rot="10800000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22"/>
          <p:cNvGrpSpPr/>
          <p:nvPr/>
        </p:nvGrpSpPr>
        <p:grpSpPr>
          <a:xfrm>
            <a:off x="-1123779" y="-1437185"/>
            <a:ext cx="12025151" cy="8843536"/>
            <a:chOff x="-1123779" y="-1437185"/>
            <a:chExt cx="12025151" cy="8843536"/>
          </a:xfrm>
        </p:grpSpPr>
        <p:sp>
          <p:nvSpPr>
            <p:cNvPr id="461" name="Google Shape;461;p22"/>
            <p:cNvSpPr/>
            <p:nvPr/>
          </p:nvSpPr>
          <p:spPr>
            <a:xfrm flipH="1">
              <a:off x="5785965" y="438881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 rot="10800000">
              <a:off x="6986174" y="-886660"/>
              <a:ext cx="3247250" cy="169871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1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/>
            <p:nvPr/>
          </p:nvSpPr>
          <p:spPr>
            <a:xfrm flipH="1" rot="10800000">
              <a:off x="-1123779" y="-1437185"/>
              <a:ext cx="3115510" cy="1837815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4" name="Google Shape;46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" type="subTitle"/>
          </p:nvPr>
        </p:nvSpPr>
        <p:spPr>
          <a:xfrm>
            <a:off x="93762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2" type="subTitle"/>
          </p:nvPr>
        </p:nvSpPr>
        <p:spPr>
          <a:xfrm>
            <a:off x="3341062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3" type="subTitle"/>
          </p:nvPr>
        </p:nvSpPr>
        <p:spPr>
          <a:xfrm>
            <a:off x="5744505" y="2512054"/>
            <a:ext cx="2052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4" type="subTitle"/>
          </p:nvPr>
        </p:nvSpPr>
        <p:spPr>
          <a:xfrm>
            <a:off x="937625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69" name="Google Shape;469;p22"/>
          <p:cNvSpPr txBox="1"/>
          <p:nvPr>
            <p:ph idx="5" type="subTitle"/>
          </p:nvPr>
        </p:nvSpPr>
        <p:spPr>
          <a:xfrm>
            <a:off x="3341063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70" name="Google Shape;470;p22"/>
          <p:cNvSpPr txBox="1"/>
          <p:nvPr>
            <p:ph idx="6" type="subTitle"/>
          </p:nvPr>
        </p:nvSpPr>
        <p:spPr>
          <a:xfrm>
            <a:off x="5744502" y="2067100"/>
            <a:ext cx="20526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71" name="Google Shape;471;p22"/>
          <p:cNvGrpSpPr/>
          <p:nvPr/>
        </p:nvGrpSpPr>
        <p:grpSpPr>
          <a:xfrm flipH="1" rot="10800000">
            <a:off x="-1469087" y="4289940"/>
            <a:ext cx="3296400" cy="703085"/>
            <a:chOff x="-12" y="3628590"/>
            <a:chExt cx="3296400" cy="703085"/>
          </a:xfrm>
        </p:grpSpPr>
        <p:grpSp>
          <p:nvGrpSpPr>
            <p:cNvPr id="472" name="Google Shape;472;p2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73" name="Google Shape;473;p2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" name="Google Shape;474;p2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77" name="Google Shape;477;p2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0" name="Google Shape;480;p2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4" name="Google Shape;484;p22"/>
          <p:cNvGrpSpPr/>
          <p:nvPr/>
        </p:nvGrpSpPr>
        <p:grpSpPr>
          <a:xfrm>
            <a:off x="-592558" y="-10342"/>
            <a:ext cx="7481573" cy="5159023"/>
            <a:chOff x="-592558" y="-10342"/>
            <a:chExt cx="7481573" cy="5159023"/>
          </a:xfrm>
        </p:grpSpPr>
        <p:sp>
          <p:nvSpPr>
            <p:cNvPr id="485" name="Google Shape;485;p22"/>
            <p:cNvSpPr/>
            <p:nvPr/>
          </p:nvSpPr>
          <p:spPr>
            <a:xfrm flipH="1" rot="10800000">
              <a:off x="-592558" y="-10342"/>
              <a:ext cx="1418251" cy="267006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2"/>
            <p:cNvSpPr/>
            <p:nvPr/>
          </p:nvSpPr>
          <p:spPr>
            <a:xfrm flipH="1" rot="10800000">
              <a:off x="5882231" y="4965151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7" name="Google Shape;487;p22"/>
          <p:cNvSpPr/>
          <p:nvPr/>
        </p:nvSpPr>
        <p:spPr>
          <a:xfrm flipH="1">
            <a:off x="6761059" y="4250475"/>
            <a:ext cx="3573015" cy="1869125"/>
          </a:xfrm>
          <a:custGeom>
            <a:rect b="b" l="l" r="r" t="t"/>
            <a:pathLst>
              <a:path extrusionOk="0" h="33981" w="64958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1" type="subTitle"/>
          </p:nvPr>
        </p:nvSpPr>
        <p:spPr>
          <a:xfrm>
            <a:off x="1689126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2" type="subTitle"/>
          </p:nvPr>
        </p:nvSpPr>
        <p:spPr>
          <a:xfrm>
            <a:off x="5210878" y="176065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3" type="subTitle"/>
          </p:nvPr>
        </p:nvSpPr>
        <p:spPr>
          <a:xfrm>
            <a:off x="1689126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4" type="subTitle"/>
          </p:nvPr>
        </p:nvSpPr>
        <p:spPr>
          <a:xfrm>
            <a:off x="5210878" y="334502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5" name="Google Shape;495;p23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6" name="Google Shape;496;p23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497" name="Google Shape;497;p23"/>
          <p:cNvSpPr txBox="1"/>
          <p:nvPr>
            <p:ph idx="8" type="subTitle"/>
          </p:nvPr>
        </p:nvSpPr>
        <p:spPr>
          <a:xfrm>
            <a:off x="5210851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498" name="Google Shape;498;p23"/>
          <p:cNvGrpSpPr/>
          <p:nvPr/>
        </p:nvGrpSpPr>
        <p:grpSpPr>
          <a:xfrm>
            <a:off x="-1014025" y="-964868"/>
            <a:ext cx="10158024" cy="7826893"/>
            <a:chOff x="-1014025" y="-964868"/>
            <a:chExt cx="10158024" cy="7826893"/>
          </a:xfrm>
        </p:grpSpPr>
        <p:sp>
          <p:nvSpPr>
            <p:cNvPr id="499" name="Google Shape;499;p23"/>
            <p:cNvSpPr/>
            <p:nvPr/>
          </p:nvSpPr>
          <p:spPr>
            <a:xfrm rot="10800000">
              <a:off x="-1014025" y="-96486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 flipH="1"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23"/>
          <p:cNvGrpSpPr/>
          <p:nvPr/>
        </p:nvGrpSpPr>
        <p:grpSpPr>
          <a:xfrm flipH="1">
            <a:off x="-2799911" y="4184068"/>
            <a:ext cx="3894036" cy="692436"/>
            <a:chOff x="5477439" y="1590790"/>
            <a:chExt cx="3894036" cy="692436"/>
          </a:xfrm>
        </p:grpSpPr>
        <p:grpSp>
          <p:nvGrpSpPr>
            <p:cNvPr id="502" name="Google Shape;502;p23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2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5" name="Google Shape;505;p23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06" name="Google Shape;506;p23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7" name="Google Shape;507;p23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8" name="Google Shape;508;p2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09" name="Google Shape;509;p2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10" name="Google Shape;510;p2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23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12" name="Google Shape;512;p23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3" name="Google Shape;513;p23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4" name="Google Shape;514;p23"/>
          <p:cNvSpPr/>
          <p:nvPr/>
        </p:nvSpPr>
        <p:spPr>
          <a:xfrm flipH="1" rot="10800000">
            <a:off x="7721650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23"/>
          <p:cNvGrpSpPr/>
          <p:nvPr/>
        </p:nvGrpSpPr>
        <p:grpSpPr>
          <a:xfrm>
            <a:off x="-2689610" y="-2478031"/>
            <a:ext cx="13399307" cy="8256735"/>
            <a:chOff x="-2689610" y="-2478031"/>
            <a:chExt cx="13399307" cy="8256735"/>
          </a:xfrm>
        </p:grpSpPr>
        <p:sp>
          <p:nvSpPr>
            <p:cNvPr id="516" name="Google Shape;516;p23"/>
            <p:cNvSpPr/>
            <p:nvPr/>
          </p:nvSpPr>
          <p:spPr>
            <a:xfrm flipH="1" rot="10800000">
              <a:off x="-268961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7904425" y="424129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0" name="Google Shape;520;p24"/>
          <p:cNvSpPr txBox="1"/>
          <p:nvPr>
            <p:ph idx="1" type="subTitle"/>
          </p:nvPr>
        </p:nvSpPr>
        <p:spPr>
          <a:xfrm>
            <a:off x="720000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1" name="Google Shape;521;p24"/>
          <p:cNvSpPr txBox="1"/>
          <p:nvPr>
            <p:ph idx="2" type="subTitle"/>
          </p:nvPr>
        </p:nvSpPr>
        <p:spPr>
          <a:xfrm>
            <a:off x="3392266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2" name="Google Shape;522;p24"/>
          <p:cNvSpPr txBox="1"/>
          <p:nvPr>
            <p:ph idx="3" type="subTitle"/>
          </p:nvPr>
        </p:nvSpPr>
        <p:spPr>
          <a:xfrm>
            <a:off x="720000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3" name="Google Shape;523;p24"/>
          <p:cNvSpPr txBox="1"/>
          <p:nvPr>
            <p:ph idx="4" type="subTitle"/>
          </p:nvPr>
        </p:nvSpPr>
        <p:spPr>
          <a:xfrm>
            <a:off x="3392266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4" name="Google Shape;524;p24"/>
          <p:cNvSpPr txBox="1"/>
          <p:nvPr>
            <p:ph idx="5" type="subTitle"/>
          </p:nvPr>
        </p:nvSpPr>
        <p:spPr>
          <a:xfrm>
            <a:off x="6064528" y="1955324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5" name="Google Shape;525;p24"/>
          <p:cNvSpPr txBox="1"/>
          <p:nvPr>
            <p:ph idx="6" type="subTitle"/>
          </p:nvPr>
        </p:nvSpPr>
        <p:spPr>
          <a:xfrm>
            <a:off x="6064528" y="3833100"/>
            <a:ext cx="23595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26" name="Google Shape;526;p24"/>
          <p:cNvSpPr txBox="1"/>
          <p:nvPr>
            <p:ph idx="7" type="subTitle"/>
          </p:nvPr>
        </p:nvSpPr>
        <p:spPr>
          <a:xfrm>
            <a:off x="724640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7" name="Google Shape;527;p24"/>
          <p:cNvSpPr txBox="1"/>
          <p:nvPr>
            <p:ph idx="8" type="subTitle"/>
          </p:nvPr>
        </p:nvSpPr>
        <p:spPr>
          <a:xfrm>
            <a:off x="3396904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8" name="Google Shape;528;p24"/>
          <p:cNvSpPr txBox="1"/>
          <p:nvPr>
            <p:ph idx="9" type="subTitle"/>
          </p:nvPr>
        </p:nvSpPr>
        <p:spPr>
          <a:xfrm>
            <a:off x="6069165" y="1734325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29" name="Google Shape;529;p24"/>
          <p:cNvSpPr txBox="1"/>
          <p:nvPr>
            <p:ph idx="13" type="subTitle"/>
          </p:nvPr>
        </p:nvSpPr>
        <p:spPr>
          <a:xfrm>
            <a:off x="724640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0" name="Google Shape;530;p24"/>
          <p:cNvSpPr txBox="1"/>
          <p:nvPr>
            <p:ph idx="14" type="subTitle"/>
          </p:nvPr>
        </p:nvSpPr>
        <p:spPr>
          <a:xfrm>
            <a:off x="3396904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531" name="Google Shape;531;p24"/>
          <p:cNvSpPr txBox="1"/>
          <p:nvPr>
            <p:ph idx="15" type="subTitle"/>
          </p:nvPr>
        </p:nvSpPr>
        <p:spPr>
          <a:xfrm>
            <a:off x="6069165" y="3608903"/>
            <a:ext cx="2350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grpSp>
        <p:nvGrpSpPr>
          <p:cNvPr id="532" name="Google Shape;532;p24"/>
          <p:cNvGrpSpPr/>
          <p:nvPr/>
        </p:nvGrpSpPr>
        <p:grpSpPr>
          <a:xfrm>
            <a:off x="-1764035" y="-2478031"/>
            <a:ext cx="10908034" cy="9340057"/>
            <a:chOff x="-1764035" y="-2478031"/>
            <a:chExt cx="10908034" cy="9340057"/>
          </a:xfrm>
        </p:grpSpPr>
        <p:sp>
          <p:nvSpPr>
            <p:cNvPr id="533" name="Google Shape;533;p24"/>
            <p:cNvSpPr/>
            <p:nvPr/>
          </p:nvSpPr>
          <p:spPr>
            <a:xfrm flipH="1" rot="10800000">
              <a:off x="-1764035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-213475" y="4974994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5" name="Google Shape;535;p24"/>
          <p:cNvGrpSpPr/>
          <p:nvPr/>
        </p:nvGrpSpPr>
        <p:grpSpPr>
          <a:xfrm flipH="1" rot="10800000">
            <a:off x="8041939" y="144568"/>
            <a:ext cx="3894036" cy="692436"/>
            <a:chOff x="5477439" y="1590790"/>
            <a:chExt cx="3894036" cy="692436"/>
          </a:xfrm>
        </p:grpSpPr>
        <p:grpSp>
          <p:nvGrpSpPr>
            <p:cNvPr id="536" name="Google Shape;536;p24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537" name="Google Shape;537;p24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38" name="Google Shape;538;p24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540" name="Google Shape;540;p24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1" name="Google Shape;541;p24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2" name="Google Shape;542;p24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543" name="Google Shape;543;p24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44" name="Google Shape;544;p24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546" name="Google Shape;546;p24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" name="Google Shape;547;p24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8" name="Google Shape;548;p24"/>
          <p:cNvSpPr/>
          <p:nvPr/>
        </p:nvSpPr>
        <p:spPr>
          <a:xfrm rot="10800000">
            <a:off x="-876276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9" name="Google Shape;549;p24"/>
          <p:cNvGrpSpPr/>
          <p:nvPr/>
        </p:nvGrpSpPr>
        <p:grpSpPr>
          <a:xfrm>
            <a:off x="-1205775" y="-700418"/>
            <a:ext cx="11406422" cy="6958608"/>
            <a:chOff x="-1205775" y="-700418"/>
            <a:chExt cx="11406422" cy="6958608"/>
          </a:xfrm>
        </p:grpSpPr>
        <p:sp>
          <p:nvSpPr>
            <p:cNvPr id="550" name="Google Shape;550;p24"/>
            <p:cNvSpPr/>
            <p:nvPr/>
          </p:nvSpPr>
          <p:spPr>
            <a:xfrm rot="10800000">
              <a:off x="-1205775" y="-700418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7395375" y="4720782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25"/>
          <p:cNvGrpSpPr/>
          <p:nvPr/>
        </p:nvGrpSpPr>
        <p:grpSpPr>
          <a:xfrm>
            <a:off x="-810334" y="-1436216"/>
            <a:ext cx="10049270" cy="7866187"/>
            <a:chOff x="-810334" y="-1436216"/>
            <a:chExt cx="10049270" cy="7866187"/>
          </a:xfrm>
        </p:grpSpPr>
        <p:sp>
          <p:nvSpPr>
            <p:cNvPr id="554" name="Google Shape;554;p25"/>
            <p:cNvSpPr/>
            <p:nvPr/>
          </p:nvSpPr>
          <p:spPr>
            <a:xfrm rot="10800000">
              <a:off x="-56042" y="-1436216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-810334" y="450692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5"/>
            <p:cNvSpPr/>
            <p:nvPr/>
          </p:nvSpPr>
          <p:spPr>
            <a:xfrm flipH="1">
              <a:off x="5463604" y="4588371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Google Shape;557;p25"/>
          <p:cNvGrpSpPr/>
          <p:nvPr/>
        </p:nvGrpSpPr>
        <p:grpSpPr>
          <a:xfrm>
            <a:off x="-483963" y="343842"/>
            <a:ext cx="10364069" cy="4799653"/>
            <a:chOff x="-483963" y="343842"/>
            <a:chExt cx="10364069" cy="4799653"/>
          </a:xfrm>
        </p:grpSpPr>
        <p:sp>
          <p:nvSpPr>
            <p:cNvPr id="558" name="Google Shape;558;p25"/>
            <p:cNvSpPr/>
            <p:nvPr/>
          </p:nvSpPr>
          <p:spPr>
            <a:xfrm flipH="1">
              <a:off x="-483963" y="343842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490516" y="4911500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5"/>
            <p:cNvSpPr/>
            <p:nvPr/>
          </p:nvSpPr>
          <p:spPr>
            <a:xfrm flipH="1">
              <a:off x="8647766" y="4521501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1" name="Google Shape;561;p25"/>
          <p:cNvSpPr/>
          <p:nvPr/>
        </p:nvSpPr>
        <p:spPr>
          <a:xfrm>
            <a:off x="7423987" y="-8"/>
            <a:ext cx="1006784" cy="183531"/>
          </a:xfrm>
          <a:custGeom>
            <a:rect b="b" l="l" r="r" t="t"/>
            <a:pathLst>
              <a:path extrusionOk="0" h="2889" w="15848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 txBox="1"/>
          <p:nvPr>
            <p:ph hasCustomPrompt="1" type="title"/>
          </p:nvPr>
        </p:nvSpPr>
        <p:spPr>
          <a:xfrm>
            <a:off x="3365094" y="876275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3" name="Google Shape;563;p25"/>
          <p:cNvSpPr txBox="1"/>
          <p:nvPr>
            <p:ph idx="1" type="subTitle"/>
          </p:nvPr>
        </p:nvSpPr>
        <p:spPr>
          <a:xfrm>
            <a:off x="3365094" y="1492766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25"/>
          <p:cNvSpPr txBox="1"/>
          <p:nvPr>
            <p:ph hasCustomPrompt="1" idx="2" type="title"/>
          </p:nvPr>
        </p:nvSpPr>
        <p:spPr>
          <a:xfrm>
            <a:off x="3365094" y="2041118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5" name="Google Shape;565;p25"/>
          <p:cNvSpPr txBox="1"/>
          <p:nvPr>
            <p:ph idx="3" type="subTitle"/>
          </p:nvPr>
        </p:nvSpPr>
        <p:spPr>
          <a:xfrm>
            <a:off x="3365094" y="2654570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25"/>
          <p:cNvSpPr txBox="1"/>
          <p:nvPr>
            <p:ph hasCustomPrompt="1" idx="4" type="title"/>
          </p:nvPr>
        </p:nvSpPr>
        <p:spPr>
          <a:xfrm>
            <a:off x="3365094" y="3205961"/>
            <a:ext cx="37542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34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567" name="Google Shape;567;p25"/>
          <p:cNvSpPr txBox="1"/>
          <p:nvPr>
            <p:ph idx="5" type="subTitle"/>
          </p:nvPr>
        </p:nvSpPr>
        <p:spPr>
          <a:xfrm>
            <a:off x="3365094" y="3816373"/>
            <a:ext cx="3754200" cy="4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68" name="Google Shape;568;p25"/>
          <p:cNvGrpSpPr/>
          <p:nvPr/>
        </p:nvGrpSpPr>
        <p:grpSpPr>
          <a:xfrm>
            <a:off x="-955172" y="-1359417"/>
            <a:ext cx="11011936" cy="8170456"/>
            <a:chOff x="-955172" y="-1359417"/>
            <a:chExt cx="11011936" cy="8170456"/>
          </a:xfrm>
        </p:grpSpPr>
        <p:sp>
          <p:nvSpPr>
            <p:cNvPr id="569" name="Google Shape;569;p25"/>
            <p:cNvSpPr/>
            <p:nvPr/>
          </p:nvSpPr>
          <p:spPr>
            <a:xfrm flipH="1" rot="10800000">
              <a:off x="-955172" y="-1359417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5"/>
            <p:cNvSpPr/>
            <p:nvPr/>
          </p:nvSpPr>
          <p:spPr>
            <a:xfrm flipH="1">
              <a:off x="5718529" y="4734383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5"/>
            <p:cNvSpPr/>
            <p:nvPr/>
          </p:nvSpPr>
          <p:spPr>
            <a:xfrm flipH="1" rot="10800000">
              <a:off x="7251492" y="-83652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5"/>
            <p:cNvSpPr/>
            <p:nvPr/>
          </p:nvSpPr>
          <p:spPr>
            <a:xfrm flipH="1">
              <a:off x="-718483" y="4740475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5"/>
          <p:cNvGrpSpPr/>
          <p:nvPr/>
        </p:nvGrpSpPr>
        <p:grpSpPr>
          <a:xfrm>
            <a:off x="-3334299" y="835002"/>
            <a:ext cx="14148600" cy="3523278"/>
            <a:chOff x="-3334299" y="835002"/>
            <a:chExt cx="14148600" cy="3523278"/>
          </a:xfrm>
        </p:grpSpPr>
        <p:grpSp>
          <p:nvGrpSpPr>
            <p:cNvPr id="574" name="Google Shape;574;p25"/>
            <p:cNvGrpSpPr/>
            <p:nvPr/>
          </p:nvGrpSpPr>
          <p:grpSpPr>
            <a:xfrm flipH="1">
              <a:off x="7517900" y="835002"/>
              <a:ext cx="3296400" cy="703085"/>
              <a:chOff x="-12" y="3628590"/>
              <a:chExt cx="3296400" cy="703085"/>
            </a:xfrm>
          </p:grpSpPr>
          <p:grpSp>
            <p:nvGrpSpPr>
              <p:cNvPr id="575" name="Google Shape;575;p25"/>
              <p:cNvGrpSpPr/>
              <p:nvPr/>
            </p:nvGrpSpPr>
            <p:grpSpPr>
              <a:xfrm>
                <a:off x="854867" y="39966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576" name="Google Shape;576;p25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77" name="Google Shape;577;p25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8" name="Google Shape;578;p25"/>
              <p:cNvGrpSpPr/>
              <p:nvPr/>
            </p:nvGrpSpPr>
            <p:grpSpPr>
              <a:xfrm>
                <a:off x="518420" y="419548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579" name="Google Shape;579;p25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rect b="b" l="l" r="r" t="t"/>
                  <a:pathLst>
                    <a:path extrusionOk="0" h="5994" w="7755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0" name="Google Shape;580;p25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1" name="Google Shape;581;p25"/>
              <p:cNvGrpSpPr/>
              <p:nvPr/>
            </p:nvGrpSpPr>
            <p:grpSpPr>
              <a:xfrm>
                <a:off x="226304" y="37648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582" name="Google Shape;582;p25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rect b="b" l="l" r="r" t="t"/>
                  <a:pathLst>
                    <a:path extrusionOk="0" h="4037" w="150207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3" name="Google Shape;583;p25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25"/>
              <p:cNvGrpSpPr/>
              <p:nvPr/>
            </p:nvGrpSpPr>
            <p:grpSpPr>
              <a:xfrm>
                <a:off x="-12" y="36285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85" name="Google Shape;585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86" name="Google Shape;586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87" name="Google Shape;587;p25"/>
            <p:cNvGrpSpPr/>
            <p:nvPr/>
          </p:nvGrpSpPr>
          <p:grpSpPr>
            <a:xfrm flipH="1">
              <a:off x="-3334299" y="3816365"/>
              <a:ext cx="4555892" cy="541915"/>
              <a:chOff x="5950034" y="3380465"/>
              <a:chExt cx="4555892" cy="541915"/>
            </a:xfrm>
          </p:grpSpPr>
          <p:grpSp>
            <p:nvGrpSpPr>
              <p:cNvPr id="588" name="Google Shape;588;p25"/>
              <p:cNvGrpSpPr/>
              <p:nvPr/>
            </p:nvGrpSpPr>
            <p:grpSpPr>
              <a:xfrm rot="10800000">
                <a:off x="5950034" y="3380473"/>
                <a:ext cx="2877996" cy="223763"/>
                <a:chOff x="1748550" y="2064750"/>
                <a:chExt cx="3573375" cy="277863"/>
              </a:xfrm>
            </p:grpSpPr>
            <p:sp>
              <p:nvSpPr>
                <p:cNvPr id="589" name="Google Shape;589;p25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rect b="b" l="l" r="r" t="t"/>
                  <a:pathLst>
                    <a:path extrusionOk="0" h="10153" w="140667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25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1" name="Google Shape;591;p25"/>
              <p:cNvGrpSpPr/>
              <p:nvPr/>
            </p:nvGrpSpPr>
            <p:grpSpPr>
              <a:xfrm rot="10800000">
                <a:off x="6396949" y="3536010"/>
                <a:ext cx="2430997" cy="185534"/>
                <a:chOff x="1748547" y="1392116"/>
                <a:chExt cx="5911958" cy="451312"/>
              </a:xfrm>
            </p:grpSpPr>
            <p:sp>
              <p:nvSpPr>
                <p:cNvPr id="592" name="Google Shape;592;p25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rect b="b" l="l" r="r" t="t"/>
                  <a:pathLst>
                    <a:path extrusionOk="0" h="7583" w="111066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3" name="Google Shape;593;p25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4" name="Google Shape;594;p25"/>
              <p:cNvGrpSpPr/>
              <p:nvPr/>
            </p:nvGrpSpPr>
            <p:grpSpPr>
              <a:xfrm rot="10800000">
                <a:off x="6906834" y="3876719"/>
                <a:ext cx="3140396" cy="45661"/>
                <a:chOff x="234768" y="1449263"/>
                <a:chExt cx="3899175" cy="56700"/>
              </a:xfrm>
            </p:grpSpPr>
            <p:cxnSp>
              <p:nvCxnSpPr>
                <p:cNvPr id="595" name="Google Shape;595;p25"/>
                <p:cNvCxnSpPr/>
                <p:nvPr/>
              </p:nvCxnSpPr>
              <p:spPr>
                <a:xfrm>
                  <a:off x="234768" y="1477625"/>
                  <a:ext cx="3846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6" name="Google Shape;596;p25"/>
                <p:cNvSpPr/>
                <p:nvPr/>
              </p:nvSpPr>
              <p:spPr>
                <a:xfrm>
                  <a:off x="4077243" y="1449263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7" name="Google Shape;597;p25"/>
              <p:cNvGrpSpPr/>
              <p:nvPr/>
            </p:nvGrpSpPr>
            <p:grpSpPr>
              <a:xfrm flipH="1">
                <a:off x="7495622" y="338046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598" name="Google Shape;598;p25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99" name="Google Shape;599;p25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6"/>
          <p:cNvGrpSpPr/>
          <p:nvPr/>
        </p:nvGrpSpPr>
        <p:grpSpPr>
          <a:xfrm flipH="1">
            <a:off x="-254387" y="-883043"/>
            <a:ext cx="10284849" cy="7556893"/>
            <a:chOff x="-1900475" y="-883043"/>
            <a:chExt cx="10284849" cy="7556893"/>
          </a:xfrm>
        </p:grpSpPr>
        <p:sp>
          <p:nvSpPr>
            <p:cNvPr id="602" name="Google Shape;602;p26"/>
            <p:cNvSpPr/>
            <p:nvPr/>
          </p:nvSpPr>
          <p:spPr>
            <a:xfrm rot="10800000">
              <a:off x="-1900475" y="-883043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3" name="Google Shape;603;p26"/>
            <p:cNvSpPr/>
            <p:nvPr/>
          </p:nvSpPr>
          <p:spPr>
            <a:xfrm flipH="1">
              <a:off x="-973100" y="4786819"/>
              <a:ext cx="9357474" cy="1887032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04" name="Google Shape;604;p26"/>
          <p:cNvSpPr/>
          <p:nvPr/>
        </p:nvSpPr>
        <p:spPr>
          <a:xfrm rot="10800000">
            <a:off x="-308364" y="4876491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5" name="Google Shape;605;p26"/>
          <p:cNvGrpSpPr/>
          <p:nvPr/>
        </p:nvGrpSpPr>
        <p:grpSpPr>
          <a:xfrm>
            <a:off x="-1129385" y="-2478031"/>
            <a:ext cx="12010982" cy="8673260"/>
            <a:chOff x="-1129385" y="-2478031"/>
            <a:chExt cx="12010982" cy="8673260"/>
          </a:xfrm>
        </p:grpSpPr>
        <p:sp>
          <p:nvSpPr>
            <p:cNvPr id="606" name="Google Shape;606;p26"/>
            <p:cNvSpPr/>
            <p:nvPr/>
          </p:nvSpPr>
          <p:spPr>
            <a:xfrm rot="10800000">
              <a:off x="5766190" y="-2478031"/>
              <a:ext cx="5115407" cy="3017539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07" name="Google Shape;607;p26"/>
            <p:cNvSpPr/>
            <p:nvPr/>
          </p:nvSpPr>
          <p:spPr>
            <a:xfrm flipH="1">
              <a:off x="-1129385" y="465782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8" name="Google Shape;608;p26"/>
          <p:cNvGrpSpPr/>
          <p:nvPr/>
        </p:nvGrpSpPr>
        <p:grpSpPr>
          <a:xfrm>
            <a:off x="-1765037" y="118040"/>
            <a:ext cx="3296400" cy="703085"/>
            <a:chOff x="-12" y="3628590"/>
            <a:chExt cx="3296400" cy="703085"/>
          </a:xfrm>
        </p:grpSpPr>
        <p:grpSp>
          <p:nvGrpSpPr>
            <p:cNvPr id="609" name="Google Shape;609;p26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10" name="Google Shape;610;p2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2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2" name="Google Shape;612;p26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13" name="Google Shape;613;p2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2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26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16" name="Google Shape;616;p2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7" name="Google Shape;617;p2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8" name="Google Shape;618;p26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19" name="Google Shape;619;p2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2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1" name="Google Shape;621;p26"/>
          <p:cNvSpPr txBox="1"/>
          <p:nvPr>
            <p:ph hasCustomPrompt="1" type="title"/>
          </p:nvPr>
        </p:nvSpPr>
        <p:spPr>
          <a:xfrm>
            <a:off x="1531375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2" name="Google Shape;622;p26"/>
          <p:cNvSpPr txBox="1"/>
          <p:nvPr>
            <p:ph idx="1" type="subTitle"/>
          </p:nvPr>
        </p:nvSpPr>
        <p:spPr>
          <a:xfrm>
            <a:off x="9385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3" name="Google Shape;623;p26"/>
          <p:cNvSpPr txBox="1"/>
          <p:nvPr>
            <p:ph idx="2" type="subTitle"/>
          </p:nvPr>
        </p:nvSpPr>
        <p:spPr>
          <a:xfrm>
            <a:off x="9385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4" name="Google Shape;624;p26"/>
          <p:cNvSpPr txBox="1"/>
          <p:nvPr>
            <p:ph hasCustomPrompt="1" idx="3" type="title"/>
          </p:nvPr>
        </p:nvSpPr>
        <p:spPr>
          <a:xfrm>
            <a:off x="40782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5" name="Google Shape;625;p26"/>
          <p:cNvSpPr txBox="1"/>
          <p:nvPr>
            <p:ph idx="4" type="subTitle"/>
          </p:nvPr>
        </p:nvSpPr>
        <p:spPr>
          <a:xfrm>
            <a:off x="34854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6" name="Google Shape;626;p26"/>
          <p:cNvSpPr txBox="1"/>
          <p:nvPr>
            <p:ph idx="5" type="subTitle"/>
          </p:nvPr>
        </p:nvSpPr>
        <p:spPr>
          <a:xfrm>
            <a:off x="34854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27" name="Google Shape;627;p26"/>
          <p:cNvSpPr txBox="1"/>
          <p:nvPr>
            <p:ph hasCustomPrompt="1" idx="6" type="title"/>
          </p:nvPr>
        </p:nvSpPr>
        <p:spPr>
          <a:xfrm>
            <a:off x="6625100" y="1785550"/>
            <a:ext cx="987600" cy="406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628" name="Google Shape;628;p26"/>
          <p:cNvSpPr txBox="1"/>
          <p:nvPr>
            <p:ph idx="7" type="subTitle"/>
          </p:nvPr>
        </p:nvSpPr>
        <p:spPr>
          <a:xfrm>
            <a:off x="6032300" y="3813800"/>
            <a:ext cx="2173200" cy="7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9" name="Google Shape;629;p26"/>
          <p:cNvSpPr txBox="1"/>
          <p:nvPr>
            <p:ph idx="8" type="subTitle"/>
          </p:nvPr>
        </p:nvSpPr>
        <p:spPr>
          <a:xfrm>
            <a:off x="6032300" y="3479925"/>
            <a:ext cx="2173200" cy="4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ExtraBold"/>
              <a:buNone/>
              <a:defRPr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/>
        </p:txBody>
      </p:sp>
      <p:sp>
        <p:nvSpPr>
          <p:cNvPr id="630" name="Google Shape;630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33" name="Google Shape;633;p27"/>
          <p:cNvGrpSpPr/>
          <p:nvPr/>
        </p:nvGrpSpPr>
        <p:grpSpPr>
          <a:xfrm flipH="1" rot="10800000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flipH="1" rot="10800000">
              <a:off x="-163643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flipH="1" rot="10800000">
            <a:off x="8818850" y="4058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>
            <a:off x="-1199871" y="-1359417"/>
            <a:ext cx="10183874" cy="7869675"/>
            <a:chOff x="-1199871" y="-1359417"/>
            <a:chExt cx="10183874" cy="7869675"/>
          </a:xfrm>
        </p:grpSpPr>
        <p:grpSp>
          <p:nvGrpSpPr>
            <p:cNvPr id="650" name="Google Shape;650;p28"/>
            <p:cNvGrpSpPr/>
            <p:nvPr/>
          </p:nvGrpSpPr>
          <p:grpSpPr>
            <a:xfrm>
              <a:off x="-955172" y="-1359417"/>
              <a:ext cx="9939175" cy="7789388"/>
              <a:chOff x="-955172" y="-1359417"/>
              <a:chExt cx="9939175" cy="7789388"/>
            </a:xfrm>
          </p:grpSpPr>
          <p:sp>
            <p:nvSpPr>
              <p:cNvPr id="651" name="Google Shape;651;p28"/>
              <p:cNvSpPr/>
              <p:nvPr/>
            </p:nvSpPr>
            <p:spPr>
              <a:xfrm flipH="1">
                <a:off x="5463604" y="4588371"/>
                <a:ext cx="3520399" cy="1841600"/>
              </a:xfrm>
              <a:custGeom>
                <a:rect b="b" l="l" r="r" t="t"/>
                <a:pathLst>
                  <a:path extrusionOk="0" h="33981" w="64958">
                    <a:moveTo>
                      <a:pt x="1" y="0"/>
                    </a:moveTo>
                    <a:lnTo>
                      <a:pt x="1" y="33831"/>
                    </a:lnTo>
                    <a:lnTo>
                      <a:pt x="64957" y="33980"/>
                    </a:lnTo>
                    <a:lnTo>
                      <a:pt x="64957" y="33980"/>
                    </a:lnTo>
                    <a:lnTo>
                      <a:pt x="3099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 flipH="1" rot="10800000">
                <a:off x="-955172" y="-1359417"/>
                <a:ext cx="2979895" cy="1757817"/>
              </a:xfrm>
              <a:custGeom>
                <a:rect b="b" l="l" r="r" t="t"/>
                <a:pathLst>
                  <a:path extrusionOk="0" h="65842" w="111617">
                    <a:moveTo>
                      <a:pt x="0" y="0"/>
                    </a:moveTo>
                    <a:lnTo>
                      <a:pt x="0" y="65842"/>
                    </a:lnTo>
                    <a:lnTo>
                      <a:pt x="111616" y="65842"/>
                    </a:lnTo>
                    <a:lnTo>
                      <a:pt x="111616" y="17621"/>
                    </a:lnTo>
                    <a:lnTo>
                      <a:pt x="97436" y="17621"/>
                    </a:lnTo>
                    <a:lnTo>
                      <a:pt x="85702" y="6053"/>
                    </a:lnTo>
                    <a:lnTo>
                      <a:pt x="52864" y="6053"/>
                    </a:lnTo>
                    <a:lnTo>
                      <a:pt x="46811" y="0"/>
                    </a:lnTo>
                    <a:close/>
                  </a:path>
                </a:pathLst>
              </a:custGeom>
              <a:solidFill>
                <a:srgbClr val="000000">
                  <a:alpha val="8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53" name="Google Shape;653;p28"/>
            <p:cNvSpPr/>
            <p:nvPr/>
          </p:nvSpPr>
          <p:spPr>
            <a:xfrm>
              <a:off x="-1199871" y="4668658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28"/>
          <p:cNvSpPr/>
          <p:nvPr/>
        </p:nvSpPr>
        <p:spPr>
          <a:xfrm flipH="1">
            <a:off x="8647766" y="4521501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28"/>
          <p:cNvGrpSpPr/>
          <p:nvPr/>
        </p:nvGrpSpPr>
        <p:grpSpPr>
          <a:xfrm flipH="1" rot="10800000">
            <a:off x="-1576500" y="4252465"/>
            <a:ext cx="3296400" cy="703085"/>
            <a:chOff x="-12" y="3628590"/>
            <a:chExt cx="3296400" cy="703085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57" name="Google Shape;657;p2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8" name="Google Shape;658;p2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9" name="Google Shape;659;p28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60" name="Google Shape;660;p2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1" name="Google Shape;661;p2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2" name="Google Shape;662;p28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63" name="Google Shape;663;p2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4" name="Google Shape;664;p2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8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66" name="Google Shape;666;p2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7" name="Google Shape;667;p2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8"/>
          <p:cNvSpPr/>
          <p:nvPr/>
        </p:nvSpPr>
        <p:spPr>
          <a:xfrm flipH="1">
            <a:off x="5718529" y="4734383"/>
            <a:ext cx="3520400" cy="2076657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2" name="Google Shape;672;p29"/>
          <p:cNvSpPr/>
          <p:nvPr/>
        </p:nvSpPr>
        <p:spPr>
          <a:xfrm>
            <a:off x="6422716" y="-11537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 rot="10800000">
            <a:off x="6549401" y="-1824231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29"/>
          <p:cNvGrpSpPr/>
          <p:nvPr/>
        </p:nvGrpSpPr>
        <p:grpSpPr>
          <a:xfrm>
            <a:off x="-1690350" y="187965"/>
            <a:ext cx="3296400" cy="703085"/>
            <a:chOff x="-12" y="3628590"/>
            <a:chExt cx="3296400" cy="703085"/>
          </a:xfrm>
        </p:grpSpPr>
        <p:grpSp>
          <p:nvGrpSpPr>
            <p:cNvPr id="675" name="Google Shape;675;p29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676" name="Google Shape;676;p2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7" name="Google Shape;677;p2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9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679" name="Google Shape;679;p2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0" name="Google Shape;680;p2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1" name="Google Shape;681;p29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682" name="Google Shape;682;p2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2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4" name="Google Shape;684;p29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685" name="Google Shape;685;p2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86" name="Google Shape;686;p2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29"/>
          <p:cNvGrpSpPr/>
          <p:nvPr/>
        </p:nvGrpSpPr>
        <p:grpSpPr>
          <a:xfrm>
            <a:off x="-2028096" y="-665229"/>
            <a:ext cx="5371751" cy="7430144"/>
            <a:chOff x="-2028096" y="-665229"/>
            <a:chExt cx="5371751" cy="7430144"/>
          </a:xfrm>
        </p:grpSpPr>
        <p:sp>
          <p:nvSpPr>
            <p:cNvPr id="688" name="Google Shape;688;p29"/>
            <p:cNvSpPr/>
            <p:nvPr/>
          </p:nvSpPr>
          <p:spPr>
            <a:xfrm>
              <a:off x="-176746" y="4688258"/>
              <a:ext cx="3520400" cy="207665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 flipH="1" rot="10800000">
              <a:off x="-2028096" y="-665229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0"/>
          <p:cNvGrpSpPr/>
          <p:nvPr/>
        </p:nvGrpSpPr>
        <p:grpSpPr>
          <a:xfrm>
            <a:off x="-1206796" y="-728442"/>
            <a:ext cx="11075673" cy="7393347"/>
            <a:chOff x="-1206796" y="-728442"/>
            <a:chExt cx="11075673" cy="7393347"/>
          </a:xfrm>
        </p:grpSpPr>
        <p:sp>
          <p:nvSpPr>
            <p:cNvPr id="692" name="Google Shape;692;p30"/>
            <p:cNvSpPr/>
            <p:nvPr/>
          </p:nvSpPr>
          <p:spPr>
            <a:xfrm flipH="1" rot="10800000">
              <a:off x="-1206796" y="-728442"/>
              <a:ext cx="3520399" cy="1841600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10800000">
              <a:off x="7640980" y="-385"/>
              <a:ext cx="2227897" cy="1165463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>
              <a:off x="-150967" y="4753509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30"/>
          <p:cNvGrpSpPr/>
          <p:nvPr/>
        </p:nvGrpSpPr>
        <p:grpSpPr>
          <a:xfrm>
            <a:off x="-460988" y="5"/>
            <a:ext cx="8180159" cy="5143491"/>
            <a:chOff x="-460988" y="5"/>
            <a:chExt cx="8180159" cy="5143491"/>
          </a:xfrm>
        </p:grpSpPr>
        <p:sp>
          <p:nvSpPr>
            <p:cNvPr id="696" name="Google Shape;696;p30"/>
            <p:cNvSpPr/>
            <p:nvPr/>
          </p:nvSpPr>
          <p:spPr>
            <a:xfrm>
              <a:off x="6712387" y="5"/>
              <a:ext cx="1006784" cy="183531"/>
            </a:xfrm>
            <a:custGeom>
              <a:rect b="b" l="l" r="r" t="t"/>
              <a:pathLst>
                <a:path extrusionOk="0" h="2889" w="15848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7" name="Google Shape;697;p30"/>
            <p:cNvGrpSpPr/>
            <p:nvPr/>
          </p:nvGrpSpPr>
          <p:grpSpPr>
            <a:xfrm>
              <a:off x="-460988" y="447730"/>
              <a:ext cx="7721994" cy="4695766"/>
              <a:chOff x="-460988" y="447730"/>
              <a:chExt cx="7721994" cy="4695766"/>
            </a:xfrm>
          </p:grpSpPr>
          <p:sp>
            <p:nvSpPr>
              <p:cNvPr id="698" name="Google Shape;698;p30"/>
              <p:cNvSpPr/>
              <p:nvPr/>
            </p:nvSpPr>
            <p:spPr>
              <a:xfrm flipH="1">
                <a:off x="-460988" y="447730"/>
                <a:ext cx="1006784" cy="183531"/>
              </a:xfrm>
              <a:custGeom>
                <a:rect b="b" l="l" r="r" t="t"/>
                <a:pathLst>
                  <a:path extrusionOk="0" h="2889" w="15848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9" name="Google Shape;699;p30"/>
              <p:cNvGrpSpPr/>
              <p:nvPr/>
            </p:nvGrpSpPr>
            <p:grpSpPr>
              <a:xfrm>
                <a:off x="117004" y="4911501"/>
                <a:ext cx="7144003" cy="231995"/>
                <a:chOff x="117004" y="4911501"/>
                <a:chExt cx="7144003" cy="231995"/>
              </a:xfrm>
            </p:grpSpPr>
            <p:sp>
              <p:nvSpPr>
                <p:cNvPr id="700" name="Google Shape;700;p30"/>
                <p:cNvSpPr/>
                <p:nvPr/>
              </p:nvSpPr>
              <p:spPr>
                <a:xfrm>
                  <a:off x="117004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0"/>
                <p:cNvSpPr/>
                <p:nvPr/>
              </p:nvSpPr>
              <p:spPr>
                <a:xfrm flipH="1">
                  <a:off x="6028666" y="4911501"/>
                  <a:ext cx="1232340" cy="231995"/>
                </a:xfrm>
                <a:custGeom>
                  <a:rect b="b" l="l" r="r" t="t"/>
                  <a:pathLst>
                    <a:path extrusionOk="0" h="4203" w="22325">
                      <a:moveTo>
                        <a:pt x="0" y="0"/>
                      </a:moveTo>
                      <a:lnTo>
                        <a:pt x="4191" y="4191"/>
                      </a:lnTo>
                      <a:lnTo>
                        <a:pt x="22325" y="4202"/>
                      </a:lnTo>
                      <a:lnTo>
                        <a:pt x="1813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702" name="Google Shape;702;p30"/>
          <p:cNvGrpSpPr/>
          <p:nvPr/>
        </p:nvGrpSpPr>
        <p:grpSpPr>
          <a:xfrm>
            <a:off x="-1206808" y="-1311142"/>
            <a:ext cx="12598531" cy="8806268"/>
            <a:chOff x="-1206808" y="-1311142"/>
            <a:chExt cx="12598531" cy="8806268"/>
          </a:xfrm>
        </p:grpSpPr>
        <p:sp>
          <p:nvSpPr>
            <p:cNvPr id="703" name="Google Shape;703;p30"/>
            <p:cNvSpPr/>
            <p:nvPr/>
          </p:nvSpPr>
          <p:spPr>
            <a:xfrm flipH="1" rot="10800000">
              <a:off x="-563672" y="-1311142"/>
              <a:ext cx="2979895" cy="175781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flipH="1">
              <a:off x="6490621" y="4604004"/>
              <a:ext cx="4901102" cy="2891122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flipH="1" rot="10800000">
              <a:off x="6338717" y="-99790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flipH="1">
              <a:off x="-1206808" y="4386250"/>
              <a:ext cx="2805272" cy="1537408"/>
            </a:xfrm>
            <a:custGeom>
              <a:rect b="b" l="l" r="r" t="t"/>
              <a:pathLst>
                <a:path extrusionOk="0" h="48014" w="8761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8" name="Google Shape;708;p30"/>
          <p:cNvSpPr txBox="1"/>
          <p:nvPr>
            <p:ph idx="1" type="subTitle"/>
          </p:nvPr>
        </p:nvSpPr>
        <p:spPr>
          <a:xfrm>
            <a:off x="2347900" y="157182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9" name="Google Shape;709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0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rect b="b" l="l" r="r" t="t"/>
              <a:pathLst>
                <a:path extrusionOk="0" h="26774" w="13020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flipH="1" rot="10800000">
              <a:off x="1175807" y="-265593"/>
              <a:ext cx="1539180" cy="805095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rect b="b" l="l" r="r" t="t"/>
            <a:pathLst>
              <a:path extrusionOk="0" h="48014" w="8761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rect b="b" l="l" r="r" t="t"/>
              <a:pathLst>
                <a:path extrusionOk="0" h="4203" w="22325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rect b="b" l="l" r="r" t="t"/>
              <a:pathLst>
                <a:path extrusionOk="0" h="65842" w="111617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flipH="1" rot="10800000">
              <a:off x="-881984" y="-739244"/>
              <a:ext cx="1959133" cy="1024867"/>
            </a:xfrm>
            <a:custGeom>
              <a:rect b="b" l="l" r="r" t="t"/>
              <a:pathLst>
                <a:path extrusionOk="0" h="33981" w="64958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rect b="b" l="l" r="r" t="t"/>
            <a:pathLst>
              <a:path extrusionOk="0" h="4203" w="22325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 flipH="1" rot="10800000">
            <a:off x="-621671" y="-1770656"/>
            <a:ext cx="4007050" cy="2363728"/>
          </a:xfrm>
          <a:custGeom>
            <a:rect b="b" l="l" r="r" t="t"/>
            <a:pathLst>
              <a:path extrusionOk="0" h="65842" w="111617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 txBox="1"/>
          <p:nvPr>
            <p:ph type="ctrTitle"/>
          </p:nvPr>
        </p:nvSpPr>
        <p:spPr>
          <a:xfrm>
            <a:off x="505350" y="1663704"/>
            <a:ext cx="7961700" cy="150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</a:t>
            </a:r>
            <a:r>
              <a:rPr lang="en"/>
              <a:t> Low Performing Job Postings with ML</a:t>
            </a:r>
            <a:endParaRPr/>
          </a:p>
        </p:txBody>
      </p:sp>
      <p:sp>
        <p:nvSpPr>
          <p:cNvPr id="753" name="Google Shape;753;p33"/>
          <p:cNvSpPr txBox="1"/>
          <p:nvPr>
            <p:ph idx="1" type="subTitle"/>
          </p:nvPr>
        </p:nvSpPr>
        <p:spPr>
          <a:xfrm>
            <a:off x="1394250" y="3602475"/>
            <a:ext cx="6355500" cy="3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Elise Chang, Mischa Mikami, Sean Tai</a:t>
            </a:r>
            <a:endParaRPr/>
          </a:p>
        </p:txBody>
      </p:sp>
      <p:grpSp>
        <p:nvGrpSpPr>
          <p:cNvPr id="754" name="Google Shape;754;p33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55" name="Google Shape;755;p33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56" name="Google Shape;756;p33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7" name="Google Shape;757;p33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8" name="Google Shape;758;p33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59" name="Google Shape;759;p33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0" name="Google Shape;760;p33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1" name="Google Shape;761;p33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2" name="Google Shape;762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3" name="Google Shape;763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4" name="Google Shape;764;p33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65" name="Google Shape;765;p33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6" name="Google Shape;766;p33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7" name="Google Shape;767;p33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68" name="Google Shape;768;p33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69" name="Google Shape;769;p3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70" name="Google Shape;770;p3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1" name="Google Shape;771;p33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2" name="Google Shape;772;p3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3" name="Google Shape;773;p3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4" name="Google Shape;774;p33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75" name="Google Shape;775;p33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6" name="Google Shape;776;p33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33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78" name="Google Shape;778;p33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9" name="Google Shape;779;p33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0" name="Google Shape;780;p33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1" name="Google Shape;781;p3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2" name="Google Shape;782;p3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33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84" name="Google Shape;784;p3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5" name="Google Shape;785;p3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TABLE OF CONTENTS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91" name="Google Shape;791;p34"/>
          <p:cNvSpPr txBox="1"/>
          <p:nvPr>
            <p:ph idx="4" type="subTitle"/>
          </p:nvPr>
        </p:nvSpPr>
        <p:spPr>
          <a:xfrm>
            <a:off x="1651675" y="1904975"/>
            <a:ext cx="31614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92" name="Google Shape;792;p34"/>
          <p:cNvSpPr txBox="1"/>
          <p:nvPr>
            <p:ph idx="5" type="subTitle"/>
          </p:nvPr>
        </p:nvSpPr>
        <p:spPr>
          <a:xfrm>
            <a:off x="4926921" y="192768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793" name="Google Shape;793;p34"/>
          <p:cNvSpPr/>
          <p:nvPr/>
        </p:nvSpPr>
        <p:spPr>
          <a:xfrm>
            <a:off x="3272360" y="1375563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4" name="Google Shape;794;p34"/>
          <p:cNvGrpSpPr/>
          <p:nvPr/>
        </p:nvGrpSpPr>
        <p:grpSpPr>
          <a:xfrm>
            <a:off x="3386260" y="1489625"/>
            <a:ext cx="339200" cy="338875"/>
            <a:chOff x="2489475" y="2118450"/>
            <a:chExt cx="339200" cy="338875"/>
          </a:xfrm>
        </p:grpSpPr>
        <p:sp>
          <p:nvSpPr>
            <p:cNvPr id="795" name="Google Shape;795;p34"/>
            <p:cNvSpPr/>
            <p:nvPr/>
          </p:nvSpPr>
          <p:spPr>
            <a:xfrm>
              <a:off x="2489475" y="2118450"/>
              <a:ext cx="339200" cy="338875"/>
            </a:xfrm>
            <a:custGeom>
              <a:rect b="b" l="l" r="r" t="t"/>
              <a:pathLst>
                <a:path extrusionOk="0" h="13555" w="13568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2619450" y="2159900"/>
              <a:ext cx="79600" cy="79250"/>
            </a:xfrm>
            <a:custGeom>
              <a:rect b="b" l="l" r="r" t="t"/>
              <a:pathLst>
                <a:path extrusionOk="0" h="3170" w="3184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2560025" y="2282350"/>
              <a:ext cx="198375" cy="92325"/>
            </a:xfrm>
            <a:custGeom>
              <a:rect b="b" l="l" r="r" t="t"/>
              <a:pathLst>
                <a:path extrusionOk="0" h="3693" w="7935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8" name="Google Shape;798;p34"/>
          <p:cNvCxnSpPr/>
          <p:nvPr/>
        </p:nvCxnSpPr>
        <p:spPr>
          <a:xfrm>
            <a:off x="2919613" y="1659075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799" name="Google Shape;799;p34"/>
          <p:cNvSpPr/>
          <p:nvPr/>
        </p:nvSpPr>
        <p:spPr>
          <a:xfrm>
            <a:off x="6224122" y="1360663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0" name="Google Shape;800;p34"/>
          <p:cNvCxnSpPr/>
          <p:nvPr/>
        </p:nvCxnSpPr>
        <p:spPr>
          <a:xfrm>
            <a:off x="5876300" y="1644176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801" name="Google Shape;801;p34"/>
          <p:cNvSpPr/>
          <p:nvPr/>
        </p:nvSpPr>
        <p:spPr>
          <a:xfrm>
            <a:off x="3224422" y="2755413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4"/>
          <p:cNvSpPr txBox="1"/>
          <p:nvPr>
            <p:ph idx="2" type="subTitle"/>
          </p:nvPr>
        </p:nvSpPr>
        <p:spPr>
          <a:xfrm>
            <a:off x="4875962" y="3322413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803" name="Google Shape;803;p34"/>
          <p:cNvSpPr txBox="1"/>
          <p:nvPr>
            <p:ph idx="6" type="subTitle"/>
          </p:nvPr>
        </p:nvSpPr>
        <p:spPr>
          <a:xfrm>
            <a:off x="1927225" y="3322425"/>
            <a:ext cx="26103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grpSp>
        <p:nvGrpSpPr>
          <p:cNvPr id="804" name="Google Shape;804;p34"/>
          <p:cNvGrpSpPr/>
          <p:nvPr/>
        </p:nvGrpSpPr>
        <p:grpSpPr>
          <a:xfrm>
            <a:off x="6330235" y="1474513"/>
            <a:ext cx="338875" cy="339300"/>
            <a:chOff x="2518850" y="3256400"/>
            <a:chExt cx="338875" cy="339300"/>
          </a:xfrm>
        </p:grpSpPr>
        <p:sp>
          <p:nvSpPr>
            <p:cNvPr id="805" name="Google Shape;805;p34"/>
            <p:cNvSpPr/>
            <p:nvPr/>
          </p:nvSpPr>
          <p:spPr>
            <a:xfrm>
              <a:off x="2518850" y="3256400"/>
              <a:ext cx="338875" cy="339300"/>
            </a:xfrm>
            <a:custGeom>
              <a:rect b="b" l="l" r="r" t="t"/>
              <a:pathLst>
                <a:path extrusionOk="0" h="13572" w="13555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4"/>
            <p:cNvSpPr/>
            <p:nvPr/>
          </p:nvSpPr>
          <p:spPr>
            <a:xfrm>
              <a:off x="25838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4"/>
            <p:cNvSpPr/>
            <p:nvPr/>
          </p:nvSpPr>
          <p:spPr>
            <a:xfrm>
              <a:off x="25838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2695550" y="3465950"/>
              <a:ext cx="96125" cy="13225"/>
            </a:xfrm>
            <a:custGeom>
              <a:rect b="b" l="l" r="r" t="t"/>
              <a:pathLst>
                <a:path extrusionOk="0" h="529" w="3845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2695550" y="3492250"/>
              <a:ext cx="96125" cy="13150"/>
            </a:xfrm>
            <a:custGeom>
              <a:rect b="b" l="l" r="r" t="t"/>
              <a:pathLst>
                <a:path extrusionOk="0" h="526" w="3845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0" name="Google Shape;810;p34"/>
          <p:cNvSpPr txBox="1"/>
          <p:nvPr>
            <p:ph idx="9" type="title"/>
          </p:nvPr>
        </p:nvSpPr>
        <p:spPr>
          <a:xfrm>
            <a:off x="5352325" y="1360676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11" name="Google Shape;811;p34"/>
          <p:cNvSpPr txBox="1"/>
          <p:nvPr>
            <p:ph idx="14" type="title"/>
          </p:nvPr>
        </p:nvSpPr>
        <p:spPr>
          <a:xfrm>
            <a:off x="2352625" y="2755427"/>
            <a:ext cx="567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12" name="Google Shape;812;p34"/>
          <p:cNvSpPr txBox="1"/>
          <p:nvPr>
            <p:ph idx="7" type="title"/>
          </p:nvPr>
        </p:nvSpPr>
        <p:spPr>
          <a:xfrm>
            <a:off x="2400563" y="1375575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6173160" y="2755413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4" name="Google Shape;814;p34"/>
          <p:cNvCxnSpPr/>
          <p:nvPr/>
        </p:nvCxnSpPr>
        <p:spPr>
          <a:xfrm>
            <a:off x="5833263" y="3038924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815" name="Google Shape;815;p34"/>
          <p:cNvCxnSpPr/>
          <p:nvPr/>
        </p:nvCxnSpPr>
        <p:spPr>
          <a:xfrm flipH="1" rot="10800000">
            <a:off x="2870450" y="3037427"/>
            <a:ext cx="304800" cy="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grpSp>
        <p:nvGrpSpPr>
          <p:cNvPr id="816" name="Google Shape;816;p34"/>
          <p:cNvGrpSpPr/>
          <p:nvPr/>
        </p:nvGrpSpPr>
        <p:grpSpPr>
          <a:xfrm>
            <a:off x="6320272" y="2869263"/>
            <a:ext cx="272800" cy="339300"/>
            <a:chOff x="4108450" y="3256400"/>
            <a:chExt cx="272800" cy="339300"/>
          </a:xfrm>
        </p:grpSpPr>
        <p:sp>
          <p:nvSpPr>
            <p:cNvPr id="817" name="Google Shape;817;p34"/>
            <p:cNvSpPr/>
            <p:nvPr/>
          </p:nvSpPr>
          <p:spPr>
            <a:xfrm>
              <a:off x="4108450" y="3256400"/>
              <a:ext cx="272800" cy="339300"/>
            </a:xfrm>
            <a:custGeom>
              <a:rect b="b" l="l" r="r" t="t"/>
              <a:pathLst>
                <a:path extrusionOk="0" h="13572" w="10912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4268525" y="3324075"/>
              <a:ext cx="59525" cy="59650"/>
            </a:xfrm>
            <a:custGeom>
              <a:rect b="b" l="l" r="r" t="t"/>
              <a:pathLst>
                <a:path extrusionOk="0" h="2386" w="2381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4178650" y="3350850"/>
              <a:ext cx="123100" cy="105500"/>
            </a:xfrm>
            <a:custGeom>
              <a:rect b="b" l="l" r="r" t="t"/>
              <a:pathLst>
                <a:path extrusionOk="0" h="4220" w="4924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4195250" y="3310675"/>
              <a:ext cx="61925" cy="13550"/>
            </a:xfrm>
            <a:custGeom>
              <a:rect b="b" l="l" r="r" t="t"/>
              <a:pathLst>
                <a:path extrusionOk="0" h="542" w="2477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419350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419350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4266450" y="349500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4266450" y="3468350"/>
              <a:ext cx="62275" cy="13225"/>
            </a:xfrm>
            <a:custGeom>
              <a:rect b="b" l="l" r="r" t="t"/>
              <a:pathLst>
                <a:path extrusionOk="0" h="529" w="2491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5" name="Google Shape;825;p34"/>
          <p:cNvSpPr txBox="1"/>
          <p:nvPr>
            <p:ph idx="13" type="title"/>
          </p:nvPr>
        </p:nvSpPr>
        <p:spPr>
          <a:xfrm>
            <a:off x="5301363" y="2755424"/>
            <a:ext cx="5670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826" name="Google Shape;826;p34"/>
          <p:cNvGrpSpPr/>
          <p:nvPr/>
        </p:nvGrpSpPr>
        <p:grpSpPr>
          <a:xfrm>
            <a:off x="3338322" y="2889413"/>
            <a:ext cx="339200" cy="304700"/>
            <a:chOff x="2489475" y="2699700"/>
            <a:chExt cx="339200" cy="304700"/>
          </a:xfrm>
        </p:grpSpPr>
        <p:sp>
          <p:nvSpPr>
            <p:cNvPr id="827" name="Google Shape;827;p34"/>
            <p:cNvSpPr/>
            <p:nvPr/>
          </p:nvSpPr>
          <p:spPr>
            <a:xfrm>
              <a:off x="2489475" y="2699700"/>
              <a:ext cx="339200" cy="304700"/>
            </a:xfrm>
            <a:custGeom>
              <a:rect b="b" l="l" r="r" t="t"/>
              <a:pathLst>
                <a:path extrusionOk="0" h="12188" w="13568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2568975" y="2726100"/>
              <a:ext cx="13475" cy="13400"/>
            </a:xfrm>
            <a:custGeom>
              <a:rect b="b" l="l" r="r" t="t"/>
              <a:pathLst>
                <a:path extrusionOk="0" h="536" w="539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2542675" y="2726100"/>
              <a:ext cx="13225" cy="13400"/>
            </a:xfrm>
            <a:custGeom>
              <a:rect b="b" l="l" r="r" t="t"/>
              <a:pathLst>
                <a:path extrusionOk="0" h="536" w="529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2516050" y="2726100"/>
              <a:ext cx="13200" cy="13400"/>
            </a:xfrm>
            <a:custGeom>
              <a:rect b="b" l="l" r="r" t="t"/>
              <a:pathLst>
                <a:path extrusionOk="0" h="536" w="528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2516050" y="2779225"/>
              <a:ext cx="286000" cy="198850"/>
            </a:xfrm>
            <a:custGeom>
              <a:rect b="b" l="l" r="r" t="t"/>
              <a:pathLst>
                <a:path extrusionOk="0" h="7954" w="1144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2538525" y="2805850"/>
              <a:ext cx="235225" cy="145600"/>
            </a:xfrm>
            <a:custGeom>
              <a:rect b="b" l="l" r="r" t="t"/>
              <a:pathLst>
                <a:path extrusionOk="0" h="5824" w="9409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5"/>
          <p:cNvSpPr txBox="1"/>
          <p:nvPr>
            <p:ph type="title"/>
          </p:nvPr>
        </p:nvSpPr>
        <p:spPr>
          <a:xfrm>
            <a:off x="2103550" y="18160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838" name="Google Shape;838;p35"/>
          <p:cNvSpPr txBox="1"/>
          <p:nvPr>
            <p:ph idx="2" type="title"/>
          </p:nvPr>
        </p:nvSpPr>
        <p:spPr>
          <a:xfrm>
            <a:off x="1068600" y="18160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39" name="Google Shape;839;p35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40" name="Google Shape;840;p35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41" name="Google Shape;841;p35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42" name="Google Shape;842;p35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3" name="Google Shape;843;p35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44" name="Google Shape;844;p35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45" name="Google Shape;845;p35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6" name="Google Shape;846;p35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47" name="Google Shape;847;p35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48" name="Google Shape;848;p35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9" name="Google Shape;849;p35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50" name="Google Shape;850;p35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1" name="Google Shape;851;p35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35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853" name="Google Shape;853;p35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4" name="Google Shape;854;p35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35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856" name="Google Shape;856;p35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57" name="Google Shape;857;p35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6"/>
          <p:cNvSpPr txBox="1"/>
          <p:nvPr>
            <p:ph idx="1" type="subTitle"/>
          </p:nvPr>
        </p:nvSpPr>
        <p:spPr>
          <a:xfrm>
            <a:off x="1296900" y="1265800"/>
            <a:ext cx="7007400" cy="28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m</a:t>
            </a:r>
            <a:r>
              <a:rPr lang="en" sz="1500"/>
              <a:t>any postings get high views but few applications → inefficient hiring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h</a:t>
            </a:r>
            <a:r>
              <a:rPr lang="en" sz="1500"/>
              <a:t>ard to diagnose low-conversion causes </a:t>
            </a:r>
            <a:endParaRPr sz="1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500"/>
              <a:t>unclear text, no salary, strict requirements, weak employer brand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l</a:t>
            </a:r>
            <a:r>
              <a:rPr lang="en" sz="1500"/>
              <a:t>ow-quality postings hurt candidate experience + reduce qualified applicants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u</a:t>
            </a:r>
            <a:r>
              <a:rPr lang="en" sz="1500"/>
              <a:t>nderstanding conversion patterns improves posting clarity and transparency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p</a:t>
            </a:r>
            <a:r>
              <a:rPr lang="en" sz="1500"/>
              <a:t>redictive model can flag at-risk postings early and guide improvements</a:t>
            </a:r>
            <a:endParaRPr sz="1500"/>
          </a:p>
        </p:txBody>
      </p:sp>
      <p:sp>
        <p:nvSpPr>
          <p:cNvPr id="863" name="Google Shape;863;p36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Motivation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7"/>
          <p:cNvSpPr txBox="1"/>
          <p:nvPr>
            <p:ph idx="1" type="subTitle"/>
          </p:nvPr>
        </p:nvSpPr>
        <p:spPr>
          <a:xfrm>
            <a:off x="6155172" y="1459900"/>
            <a:ext cx="2784000" cy="26058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clearer, more transparent job postings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more roles with salary info + realistic requirements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more relevant + efficient job search experience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69" name="Google Shape;869;p37"/>
          <p:cNvSpPr txBox="1"/>
          <p:nvPr>
            <p:ph idx="1" type="subTitle"/>
          </p:nvPr>
        </p:nvSpPr>
        <p:spPr>
          <a:xfrm>
            <a:off x="3199072" y="1459900"/>
            <a:ext cx="2784000" cy="26058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better recommendation ranking using conversion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automated feedback to employers on posting quality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improve overall posting effectiveness site-wide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70" name="Google Shape;870;p37"/>
          <p:cNvSpPr txBox="1"/>
          <p:nvPr>
            <p:ph idx="1" type="subTitle"/>
          </p:nvPr>
        </p:nvSpPr>
        <p:spPr>
          <a:xfrm>
            <a:off x="175557" y="1459900"/>
            <a:ext cx="2867700" cy="26058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early alerts for underperforming postings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revise titles, descriptions, or requirements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insights into factors driving applicant engagement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71" name="Google Shape;871;p37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Stakeholders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2" name="Google Shape;872;p37"/>
          <p:cNvSpPr txBox="1"/>
          <p:nvPr>
            <p:ph idx="1" type="subTitle"/>
          </p:nvPr>
        </p:nvSpPr>
        <p:spPr>
          <a:xfrm>
            <a:off x="3199072" y="1459900"/>
            <a:ext cx="27840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Job Platforms (LinkedIn)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73" name="Google Shape;873;p37"/>
          <p:cNvSpPr txBox="1"/>
          <p:nvPr>
            <p:ph idx="1" type="subTitle"/>
          </p:nvPr>
        </p:nvSpPr>
        <p:spPr>
          <a:xfrm>
            <a:off x="6155173" y="1459900"/>
            <a:ext cx="27840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Job Seekers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74" name="Google Shape;874;p37"/>
          <p:cNvSpPr txBox="1"/>
          <p:nvPr>
            <p:ph idx="1" type="subTitle"/>
          </p:nvPr>
        </p:nvSpPr>
        <p:spPr>
          <a:xfrm>
            <a:off x="175563" y="1459900"/>
            <a:ext cx="28677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Recruiters/Hiring Team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8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Research Question &amp; Goals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0" name="Google Shape;880;p38"/>
          <p:cNvSpPr txBox="1"/>
          <p:nvPr>
            <p:ph idx="1" type="subTitle"/>
          </p:nvPr>
        </p:nvSpPr>
        <p:spPr>
          <a:xfrm>
            <a:off x="1068300" y="1371150"/>
            <a:ext cx="7007400" cy="24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Primary Question: </a:t>
            </a:r>
            <a:endParaRPr sz="1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500"/>
              <a:t>can we reliably predict whether a job posting will be low-conversion (i.e., few applicants per view) or normal conversion?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500"/>
              <a:t>Broader Goals:</a:t>
            </a:r>
            <a:endParaRPr sz="1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500"/>
              <a:t>identify which features most strongly influence applicant behavior</a:t>
            </a:r>
            <a:endParaRPr sz="1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500"/>
              <a:t>understand what characteristics tend to correlate with poor conversion</a:t>
            </a:r>
            <a:endParaRPr sz="1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" sz="1500"/>
              <a:t>provide actionable insights to improve posting quality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9"/>
          <p:cNvSpPr txBox="1"/>
          <p:nvPr>
            <p:ph type="title"/>
          </p:nvPr>
        </p:nvSpPr>
        <p:spPr>
          <a:xfrm>
            <a:off x="2085025" y="1816050"/>
            <a:ext cx="6522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886" name="Google Shape;886;p39"/>
          <p:cNvSpPr txBox="1"/>
          <p:nvPr>
            <p:ph idx="2" type="title"/>
          </p:nvPr>
        </p:nvSpPr>
        <p:spPr>
          <a:xfrm>
            <a:off x="1050075" y="18160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87" name="Google Shape;887;p39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888" name="Google Shape;888;p39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889" name="Google Shape;889;p3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0" name="Google Shape;890;p3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1" name="Google Shape;891;p39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892" name="Google Shape;892;p3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3" name="Google Shape;893;p3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4" name="Google Shape;894;p39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895" name="Google Shape;895;p3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6" name="Google Shape;896;p3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9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898" name="Google Shape;898;p3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9" name="Google Shape;899;p3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0" name="Google Shape;900;p39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01" name="Google Shape;901;p3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02" name="Google Shape;902;p3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3" name="Google Shape;903;p39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04" name="Google Shape;904;p3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05" name="Google Shape;905;p3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0"/>
          <p:cNvSpPr txBox="1"/>
          <p:nvPr/>
        </p:nvSpPr>
        <p:spPr>
          <a:xfrm>
            <a:off x="5672900" y="1483772"/>
            <a:ext cx="1945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2023-2024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1" name="Google Shape;911;p40"/>
          <p:cNvSpPr txBox="1"/>
          <p:nvPr/>
        </p:nvSpPr>
        <p:spPr>
          <a:xfrm>
            <a:off x="5672900" y="1230725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Recent</a:t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2" name="Google Shape;912;p40"/>
          <p:cNvSpPr txBox="1"/>
          <p:nvPr/>
        </p:nvSpPr>
        <p:spPr>
          <a:xfrm>
            <a:off x="5672900" y="2373615"/>
            <a:ext cx="1945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124,000+ job postings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3" name="Google Shape;913;p40"/>
          <p:cNvSpPr txBox="1"/>
          <p:nvPr/>
        </p:nvSpPr>
        <p:spPr>
          <a:xfrm>
            <a:off x="5672900" y="2120575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Robust</a:t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4" name="Google Shape;914;p40"/>
          <p:cNvSpPr txBox="1"/>
          <p:nvPr/>
        </p:nvSpPr>
        <p:spPr>
          <a:xfrm>
            <a:off x="5672902" y="3263457"/>
            <a:ext cx="1945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Thousands of jobs, companies, careers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5" name="Google Shape;915;p40"/>
          <p:cNvSpPr txBox="1"/>
          <p:nvPr/>
        </p:nvSpPr>
        <p:spPr>
          <a:xfrm>
            <a:off x="5672902" y="3010403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Diverse</a:t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6" name="Google Shape;916;p40"/>
          <p:cNvSpPr txBox="1"/>
          <p:nvPr/>
        </p:nvSpPr>
        <p:spPr>
          <a:xfrm>
            <a:off x="5672902" y="4153300"/>
            <a:ext cx="19452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Real data scraped from Linkedin, not synthetic data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7" name="Google Shape;917;p40"/>
          <p:cNvSpPr txBox="1"/>
          <p:nvPr/>
        </p:nvSpPr>
        <p:spPr>
          <a:xfrm>
            <a:off x="5672902" y="3900253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Real</a:t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918" name="Google Shape;918;p40"/>
          <p:cNvSpPr txBox="1"/>
          <p:nvPr/>
        </p:nvSpPr>
        <p:spPr>
          <a:xfrm>
            <a:off x="1525900" y="3010400"/>
            <a:ext cx="15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</a:b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LinkedIn Jobs Dataset</a:t>
            </a:r>
            <a:endParaRPr sz="20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919" name="Google Shape;919;p40"/>
          <p:cNvCxnSpPr/>
          <p:nvPr/>
        </p:nvCxnSpPr>
        <p:spPr>
          <a:xfrm flipH="1" rot="10800000">
            <a:off x="3097663" y="1504925"/>
            <a:ext cx="2329500" cy="1382700"/>
          </a:xfrm>
          <a:prstGeom prst="bentConnector3">
            <a:avLst>
              <a:gd fmla="val 2158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920" name="Google Shape;920;p40"/>
          <p:cNvCxnSpPr/>
          <p:nvPr/>
        </p:nvCxnSpPr>
        <p:spPr>
          <a:xfrm flipH="1" rot="10800000">
            <a:off x="3111025" y="2359300"/>
            <a:ext cx="2282100" cy="521100"/>
          </a:xfrm>
          <a:prstGeom prst="bentConnector3">
            <a:avLst>
              <a:gd fmla="val 2144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921" name="Google Shape;921;p40"/>
          <p:cNvCxnSpPr/>
          <p:nvPr/>
        </p:nvCxnSpPr>
        <p:spPr>
          <a:xfrm>
            <a:off x="3121375" y="2885400"/>
            <a:ext cx="2282100" cy="433800"/>
          </a:xfrm>
          <a:prstGeom prst="bentConnector3">
            <a:avLst>
              <a:gd fmla="val 20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922" name="Google Shape;922;p40"/>
          <p:cNvCxnSpPr/>
          <p:nvPr/>
        </p:nvCxnSpPr>
        <p:spPr>
          <a:xfrm>
            <a:off x="3621250" y="2885400"/>
            <a:ext cx="1806000" cy="1352100"/>
          </a:xfrm>
          <a:prstGeom prst="bentConnector3">
            <a:avLst>
              <a:gd fmla="val -115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pic>
        <p:nvPicPr>
          <p:cNvPr id="923" name="Google Shape;9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925" y="1306850"/>
            <a:ext cx="1151649" cy="1151649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40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Data Collection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"/>
          <p:cNvSpPr txBox="1"/>
          <p:nvPr>
            <p:ph idx="1" type="subTitle"/>
          </p:nvPr>
        </p:nvSpPr>
        <p:spPr>
          <a:xfrm>
            <a:off x="314655" y="1805961"/>
            <a:ext cx="2629500" cy="18324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row/datapoint: job ID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columns/features: company, job description, skills, salary, experience level, remote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30" name="Google Shape;930;p41"/>
          <p:cNvSpPr txBox="1"/>
          <p:nvPr>
            <p:ph idx="1" type="subTitle"/>
          </p:nvPr>
        </p:nvSpPr>
        <p:spPr>
          <a:xfrm>
            <a:off x="6199845" y="1805961"/>
            <a:ext cx="2629500" cy="18324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row/datapoint: company ID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columns/features: employee count, LinkedIn follower count, time recorded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31" name="Google Shape;931;p41"/>
          <p:cNvSpPr txBox="1"/>
          <p:nvPr>
            <p:ph idx="1" type="subTitle"/>
          </p:nvPr>
        </p:nvSpPr>
        <p:spPr>
          <a:xfrm>
            <a:off x="3257250" y="1805961"/>
            <a:ext cx="2629500" cy="18324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row/datapoint: company ID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columns/features: company name, company size, location (city, state, country)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32" name="Google Shape;932;p41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Data Description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3" name="Google Shape;933;p41"/>
          <p:cNvSpPr txBox="1"/>
          <p:nvPr>
            <p:ph idx="1" type="subTitle"/>
          </p:nvPr>
        </p:nvSpPr>
        <p:spPr>
          <a:xfrm>
            <a:off x="3257250" y="1805961"/>
            <a:ext cx="2629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Companies File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34" name="Google Shape;934;p41"/>
          <p:cNvSpPr txBox="1"/>
          <p:nvPr>
            <p:ph idx="1" type="subTitle"/>
          </p:nvPr>
        </p:nvSpPr>
        <p:spPr>
          <a:xfrm>
            <a:off x="6199845" y="1805961"/>
            <a:ext cx="2629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Employee Counts File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35" name="Google Shape;935;p41"/>
          <p:cNvSpPr txBox="1"/>
          <p:nvPr>
            <p:ph idx="1" type="subTitle"/>
          </p:nvPr>
        </p:nvSpPr>
        <p:spPr>
          <a:xfrm>
            <a:off x="314655" y="1805961"/>
            <a:ext cx="2629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Postings File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2"/>
          <p:cNvSpPr txBox="1"/>
          <p:nvPr>
            <p:ph idx="1" type="subTitle"/>
          </p:nvPr>
        </p:nvSpPr>
        <p:spPr>
          <a:xfrm>
            <a:off x="580925" y="1528925"/>
            <a:ext cx="3754800" cy="25533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filled missing values with the median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robust to outliers so extreme values don’t distort anything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preserves shape of skewed distributions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maintains variability closer to the true distribution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41" name="Google Shape;941;p42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Data Cleaning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2" name="Google Shape;942;p42"/>
          <p:cNvSpPr txBox="1"/>
          <p:nvPr>
            <p:ph idx="1" type="subTitle"/>
          </p:nvPr>
        </p:nvSpPr>
        <p:spPr>
          <a:xfrm>
            <a:off x="580925" y="1528925"/>
            <a:ext cx="37548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Numeric Features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43" name="Google Shape;943;p42"/>
          <p:cNvSpPr txBox="1"/>
          <p:nvPr>
            <p:ph idx="1" type="subTitle"/>
          </p:nvPr>
        </p:nvSpPr>
        <p:spPr>
          <a:xfrm>
            <a:off x="4808264" y="1528925"/>
            <a:ext cx="3754800" cy="25533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filling missing values with “missing”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missing features like pay period can indicate meaningful pattern rather than random noise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avoids introducing false categories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preserves original category distribution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4" name="Google Shape;944;p42"/>
          <p:cNvSpPr txBox="1"/>
          <p:nvPr>
            <p:ph idx="1" type="subTitle"/>
          </p:nvPr>
        </p:nvSpPr>
        <p:spPr>
          <a:xfrm>
            <a:off x="4808264" y="1528925"/>
            <a:ext cx="37548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Categorical</a:t>
            </a:r>
            <a:r>
              <a:rPr b="1" lang="en" sz="1800">
                <a:solidFill>
                  <a:schemeClr val="lt1"/>
                </a:solidFill>
              </a:rPr>
              <a:t> Features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3"/>
          <p:cNvSpPr txBox="1"/>
          <p:nvPr>
            <p:ph idx="1" type="subTitle"/>
          </p:nvPr>
        </p:nvSpPr>
        <p:spPr>
          <a:xfrm>
            <a:off x="2491500" y="1558740"/>
            <a:ext cx="4161000" cy="21741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conversion rate = applies / views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computed 25% of conversion rates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Thresholds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low conversion:  bottom 25% (Q1)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high conversion: top 75%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50" name="Google Shape;950;p43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Target Label Definition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1" name="Google Shape;951;p43"/>
          <p:cNvSpPr txBox="1"/>
          <p:nvPr>
            <p:ph idx="1" type="subTitle"/>
          </p:nvPr>
        </p:nvSpPr>
        <p:spPr>
          <a:xfrm>
            <a:off x="2491500" y="1558741"/>
            <a:ext cx="41610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Application-to-View Ratio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4"/>
          <p:cNvSpPr txBox="1"/>
          <p:nvPr>
            <p:ph idx="1" type="subTitle"/>
          </p:nvPr>
        </p:nvSpPr>
        <p:spPr>
          <a:xfrm>
            <a:off x="1416900" y="1163650"/>
            <a:ext cx="6310200" cy="31494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removed  rows w/ invalid target metrics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dropped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postings w/ missing applies or views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dropped  postings with view &lt;= 0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rem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oved noisy conversion outliers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dropped the top 1% of postings with extreme conversion rates 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avoided target leakage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dropped columns like applies, views, and conversion_rate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preserved dataset diversity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○"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didn’t restrict by industry, region, role type, or language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57" name="Google Shape;957;p44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Data Filtering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8" name="Google Shape;958;p44"/>
          <p:cNvSpPr txBox="1"/>
          <p:nvPr>
            <p:ph idx="1" type="subTitle"/>
          </p:nvPr>
        </p:nvSpPr>
        <p:spPr>
          <a:xfrm>
            <a:off x="1416900" y="1163641"/>
            <a:ext cx="63102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Removing Invalid Targets to Ensure a Clean Dataset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5"/>
          <p:cNvSpPr txBox="1"/>
          <p:nvPr>
            <p:ph type="title"/>
          </p:nvPr>
        </p:nvSpPr>
        <p:spPr>
          <a:xfrm>
            <a:off x="720000" y="5032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964" name="Google Shape;964;p45"/>
          <p:cNvSpPr txBox="1"/>
          <p:nvPr>
            <p:ph idx="1" type="subTitle"/>
          </p:nvPr>
        </p:nvSpPr>
        <p:spPr>
          <a:xfrm>
            <a:off x="430000" y="2077075"/>
            <a:ext cx="2741100" cy="13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Converted </a:t>
            </a:r>
            <a:r>
              <a:rPr lang="en" sz="1500"/>
              <a:t>text inputs into numerical features by applying TF-IDF vectorization to a new column combining text, description, and skills</a:t>
            </a:r>
            <a:endParaRPr sz="1500"/>
          </a:p>
        </p:txBody>
      </p:sp>
      <p:sp>
        <p:nvSpPr>
          <p:cNvPr id="965" name="Google Shape;965;p45"/>
          <p:cNvSpPr txBox="1"/>
          <p:nvPr>
            <p:ph idx="4" type="subTitle"/>
          </p:nvPr>
        </p:nvSpPr>
        <p:spPr>
          <a:xfrm>
            <a:off x="587050" y="1197788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TF-IDF Text Features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66" name="Google Shape;966;p45"/>
          <p:cNvSpPr txBox="1"/>
          <p:nvPr>
            <p:ph idx="1" type="subTitle"/>
          </p:nvPr>
        </p:nvSpPr>
        <p:spPr>
          <a:xfrm>
            <a:off x="3253150" y="2077070"/>
            <a:ext cx="2427000" cy="12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Created binary indicators for data that is missing, allowing the model to learn from the absence of certain values</a:t>
            </a:r>
            <a:endParaRPr sz="1500"/>
          </a:p>
        </p:txBody>
      </p:sp>
      <p:sp>
        <p:nvSpPr>
          <p:cNvPr id="967" name="Google Shape;967;p45"/>
          <p:cNvSpPr txBox="1"/>
          <p:nvPr>
            <p:ph idx="1" type="subTitle"/>
          </p:nvPr>
        </p:nvSpPr>
        <p:spPr>
          <a:xfrm>
            <a:off x="5953900" y="2077069"/>
            <a:ext cx="24270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Categorical variables are transformed into binary columns, so they can be interpreted by our models</a:t>
            </a:r>
            <a:endParaRPr sz="1500"/>
          </a:p>
        </p:txBody>
      </p:sp>
      <p:sp>
        <p:nvSpPr>
          <p:cNvPr id="968" name="Google Shape;968;p45"/>
          <p:cNvSpPr txBox="1"/>
          <p:nvPr>
            <p:ph idx="4" type="subTitle"/>
          </p:nvPr>
        </p:nvSpPr>
        <p:spPr>
          <a:xfrm>
            <a:off x="5988550" y="1197788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One Hot Encoding</a:t>
            </a:r>
            <a:endParaRPr b="1" sz="1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9" name="Google Shape;969;p45"/>
          <p:cNvSpPr txBox="1"/>
          <p:nvPr>
            <p:ph idx="4" type="subTitle"/>
          </p:nvPr>
        </p:nvSpPr>
        <p:spPr>
          <a:xfrm>
            <a:off x="3287800" y="1197788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Missing Features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70" name="Google Shape;970;p45"/>
          <p:cNvSpPr txBox="1"/>
          <p:nvPr>
            <p:ph idx="4" type="subTitle"/>
          </p:nvPr>
        </p:nvSpPr>
        <p:spPr>
          <a:xfrm>
            <a:off x="607350" y="3618863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Adding Important Features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71" name="Google Shape;971;p45"/>
          <p:cNvSpPr txBox="1"/>
          <p:nvPr>
            <p:ph idx="1" type="subTitle"/>
          </p:nvPr>
        </p:nvSpPr>
        <p:spPr>
          <a:xfrm>
            <a:off x="3273450" y="3666875"/>
            <a:ext cx="52632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Feature 1: Job listings from large cities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Feature 2: </a:t>
            </a:r>
            <a:r>
              <a:rPr lang="en" sz="1500"/>
              <a:t>Average sentence length of the description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Feature 3: </a:t>
            </a:r>
            <a:r>
              <a:rPr lang="en" sz="1500"/>
              <a:t>Word count of the description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6"/>
          <p:cNvSpPr txBox="1"/>
          <p:nvPr>
            <p:ph idx="1" type="subTitle"/>
          </p:nvPr>
        </p:nvSpPr>
        <p:spPr>
          <a:xfrm>
            <a:off x="580925" y="964100"/>
            <a:ext cx="3754800" cy="24915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Salary: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min_salary, med_salary, max_salary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Company: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company_size, employee_count, follower_count, in_large_city, sponsored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Text: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description_word_count, avg_sentence_length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977" name="Google Shape;977;p46"/>
          <p:cNvSpPr txBox="1"/>
          <p:nvPr>
            <p:ph type="title"/>
          </p:nvPr>
        </p:nvSpPr>
        <p:spPr>
          <a:xfrm>
            <a:off x="716550" y="334825"/>
            <a:ext cx="77109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Feature Selection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8" name="Google Shape;978;p46"/>
          <p:cNvSpPr txBox="1"/>
          <p:nvPr>
            <p:ph idx="1" type="subTitle"/>
          </p:nvPr>
        </p:nvSpPr>
        <p:spPr>
          <a:xfrm>
            <a:off x="580925" y="964100"/>
            <a:ext cx="37548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Numeric Features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79" name="Google Shape;979;p46"/>
          <p:cNvSpPr txBox="1"/>
          <p:nvPr>
            <p:ph idx="1" type="subTitle"/>
          </p:nvPr>
        </p:nvSpPr>
        <p:spPr>
          <a:xfrm>
            <a:off x="4808275" y="964100"/>
            <a:ext cx="3754800" cy="24915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R</a:t>
            </a:r>
            <a:r>
              <a:rPr b="1" lang="en" sz="1500">
                <a:solidFill>
                  <a:schemeClr val="lt1"/>
                </a:solidFill>
              </a:rPr>
              <a:t>ole: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formatted_work_type, formatted_experience_level,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application_type, remote_allowed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C</a:t>
            </a:r>
            <a:r>
              <a:rPr b="1" lang="en" sz="1500">
                <a:solidFill>
                  <a:schemeClr val="lt1"/>
                </a:solidFill>
              </a:rPr>
              <a:t>ompensation: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pay_period, currency, compensation_type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Text: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(title, description, and skills)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80" name="Google Shape;980;p46"/>
          <p:cNvSpPr txBox="1"/>
          <p:nvPr>
            <p:ph idx="1" type="subTitle"/>
          </p:nvPr>
        </p:nvSpPr>
        <p:spPr>
          <a:xfrm>
            <a:off x="4808264" y="964100"/>
            <a:ext cx="37548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Categorical and Text Features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981" name="Google Shape;981;p46"/>
          <p:cNvSpPr txBox="1"/>
          <p:nvPr>
            <p:ph idx="1" type="subTitle"/>
          </p:nvPr>
        </p:nvSpPr>
        <p:spPr>
          <a:xfrm>
            <a:off x="556350" y="3693225"/>
            <a:ext cx="8031300" cy="11625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Postings: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salary_missing, remote_missing, posting_domain_missing, skills_missing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Char char="●"/>
            </a:pPr>
            <a:r>
              <a:rPr b="1" lang="en" sz="1500">
                <a:solidFill>
                  <a:schemeClr val="lt1"/>
                </a:solidFill>
              </a:rPr>
              <a:t>Companies: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company_size_missing, employee_count_missing, follower_count_missing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982" name="Google Shape;982;p46"/>
          <p:cNvSpPr txBox="1"/>
          <p:nvPr>
            <p:ph idx="1" type="subTitle"/>
          </p:nvPr>
        </p:nvSpPr>
        <p:spPr>
          <a:xfrm>
            <a:off x="556350" y="3693225"/>
            <a:ext cx="80313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Dropped Features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7"/>
          <p:cNvSpPr txBox="1"/>
          <p:nvPr>
            <p:ph type="title"/>
          </p:nvPr>
        </p:nvSpPr>
        <p:spPr>
          <a:xfrm>
            <a:off x="2085025" y="18160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988" name="Google Shape;988;p47"/>
          <p:cNvSpPr txBox="1"/>
          <p:nvPr>
            <p:ph idx="2" type="title"/>
          </p:nvPr>
        </p:nvSpPr>
        <p:spPr>
          <a:xfrm>
            <a:off x="1050075" y="18160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989" name="Google Shape;989;p47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90" name="Google Shape;990;p47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91" name="Google Shape;991;p4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2" name="Google Shape;992;p4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47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94" name="Google Shape;994;p4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5" name="Google Shape;995;p4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6" name="Google Shape;996;p47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97" name="Google Shape;997;p4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98" name="Google Shape;998;p4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9" name="Google Shape;999;p47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000" name="Google Shape;1000;p47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1" name="Google Shape;1001;p47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2" name="Google Shape;1002;p47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003" name="Google Shape;1003;p47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004" name="Google Shape;1004;p47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5" name="Google Shape;1005;p47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006" name="Google Shape;1006;p4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07" name="Google Shape;1007;p4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8"/>
          <p:cNvSpPr txBox="1"/>
          <p:nvPr>
            <p:ph type="title"/>
          </p:nvPr>
        </p:nvSpPr>
        <p:spPr>
          <a:xfrm>
            <a:off x="720000" y="5032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1013" name="Google Shape;1013;p48"/>
          <p:cNvSpPr txBox="1"/>
          <p:nvPr>
            <p:ph idx="1" type="subTitle"/>
          </p:nvPr>
        </p:nvSpPr>
        <p:spPr>
          <a:xfrm>
            <a:off x="587050" y="2482063"/>
            <a:ext cx="24270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Pro: r</a:t>
            </a:r>
            <a:r>
              <a:rPr lang="en" sz="1500"/>
              <a:t>educes bias between recall and precision for imbalanced classes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Con: focuses on a single class and therefore doesn’t capture the entire model’s performance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14" name="Google Shape;1014;p48"/>
          <p:cNvSpPr txBox="1"/>
          <p:nvPr>
            <p:ph idx="4" type="subTitle"/>
          </p:nvPr>
        </p:nvSpPr>
        <p:spPr>
          <a:xfrm>
            <a:off x="587050" y="1396938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F1-Score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Harmonic Mean of</a:t>
            </a:r>
            <a:r>
              <a:rPr b="1" lang="en" sz="1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Recall and Precision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15" name="Google Shape;1015;p48"/>
          <p:cNvSpPr txBox="1"/>
          <p:nvPr>
            <p:ph idx="1" type="subTitle"/>
          </p:nvPr>
        </p:nvSpPr>
        <p:spPr>
          <a:xfrm>
            <a:off x="3287800" y="2482063"/>
            <a:ext cx="24270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Pro: measures model performance with varying classification thresholds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Con: doesn’t offer any information about the actual classifier’s performance </a:t>
            </a:r>
            <a:endParaRPr sz="1500"/>
          </a:p>
        </p:txBody>
      </p:sp>
      <p:sp>
        <p:nvSpPr>
          <p:cNvPr id="1016" name="Google Shape;1016;p48"/>
          <p:cNvSpPr txBox="1"/>
          <p:nvPr>
            <p:ph idx="4" type="subTitle"/>
          </p:nvPr>
        </p:nvSpPr>
        <p:spPr>
          <a:xfrm>
            <a:off x="3287800" y="1396938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AUC-ROC Score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Class Classification Correctness</a:t>
            </a:r>
            <a:endParaRPr b="1" sz="1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17" name="Google Shape;1017;p48"/>
          <p:cNvSpPr txBox="1"/>
          <p:nvPr>
            <p:ph idx="1" type="subTitle"/>
          </p:nvPr>
        </p:nvSpPr>
        <p:spPr>
          <a:xfrm>
            <a:off x="5988550" y="2482063"/>
            <a:ext cx="24270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Pro: measures how accurately the model is classifying predictions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Con: misleading in imbalanced classes and doesn’t account for classification nuances</a:t>
            </a:r>
            <a:endParaRPr sz="1500"/>
          </a:p>
        </p:txBody>
      </p:sp>
      <p:sp>
        <p:nvSpPr>
          <p:cNvPr id="1018" name="Google Shape;1018;p48"/>
          <p:cNvSpPr txBox="1"/>
          <p:nvPr>
            <p:ph idx="4" type="subTitle"/>
          </p:nvPr>
        </p:nvSpPr>
        <p:spPr>
          <a:xfrm>
            <a:off x="5988550" y="1396938"/>
            <a:ext cx="24270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Accuracy</a:t>
            </a:r>
            <a:endParaRPr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Prediction Correctness</a:t>
            </a:r>
            <a:endParaRPr b="1" sz="19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9"/>
          <p:cNvSpPr txBox="1"/>
          <p:nvPr>
            <p:ph type="title"/>
          </p:nvPr>
        </p:nvSpPr>
        <p:spPr>
          <a:xfrm>
            <a:off x="716550" y="334825"/>
            <a:ext cx="7710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Decision Trees</a:t>
            </a:r>
            <a:endParaRPr sz="2500"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Maps out varying choices and their possible outcomes to create a prediction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4" name="Google Shape;1024;p49"/>
          <p:cNvSpPr txBox="1"/>
          <p:nvPr>
            <p:ph idx="1" type="subTitle"/>
          </p:nvPr>
        </p:nvSpPr>
        <p:spPr>
          <a:xfrm>
            <a:off x="5093750" y="1304750"/>
            <a:ext cx="3568500" cy="17373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Decision Trees split on each feature, making it difficult to combine all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the numeric and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one-hot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encoded features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. Thus, the positive class is often missed.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25" name="Google Shape;1025;p49"/>
          <p:cNvSpPr txBox="1"/>
          <p:nvPr>
            <p:ph idx="1" type="subTitle"/>
          </p:nvPr>
        </p:nvSpPr>
        <p:spPr>
          <a:xfrm>
            <a:off x="5093750" y="1304750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Highly Sparse Features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026" name="Google Shape;1026;p49"/>
          <p:cNvSpPr txBox="1"/>
          <p:nvPr>
            <p:ph idx="1" type="subTitle"/>
          </p:nvPr>
        </p:nvSpPr>
        <p:spPr>
          <a:xfrm>
            <a:off x="5093750" y="3308175"/>
            <a:ext cx="3568500" cy="14898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Decision Trees prefer strong split points, but sparse feature patterns are spread across smaller weights. 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27" name="Google Shape;1027;p49"/>
          <p:cNvSpPr txBox="1"/>
          <p:nvPr>
            <p:ph idx="1" type="subTitle"/>
          </p:nvPr>
        </p:nvSpPr>
        <p:spPr>
          <a:xfrm>
            <a:off x="5093750" y="3308175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Distributed Patterns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1028" name="Google Shape;1028;p49" title="Screenshot 2025-12-02 at 10.37.02 PM.png"/>
          <p:cNvPicPr preferRelativeResize="0"/>
          <p:nvPr/>
        </p:nvPicPr>
        <p:blipFill rotWithShape="1">
          <a:blip r:embed="rId3">
            <a:alphaModFix/>
          </a:blip>
          <a:srcRect b="88502" l="1327" r="12503" t="0"/>
          <a:stretch/>
        </p:blipFill>
        <p:spPr>
          <a:xfrm>
            <a:off x="405350" y="1480700"/>
            <a:ext cx="4166650" cy="31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49" title="Screenshot 2025-12-02 at 10.37.02 PM.png"/>
          <p:cNvPicPr preferRelativeResize="0"/>
          <p:nvPr/>
        </p:nvPicPr>
        <p:blipFill rotWithShape="1">
          <a:blip r:embed="rId3">
            <a:alphaModFix/>
          </a:blip>
          <a:srcRect b="27291" l="1327" r="12503" t="9462"/>
          <a:stretch/>
        </p:blipFill>
        <p:spPr>
          <a:xfrm>
            <a:off x="405350" y="1983650"/>
            <a:ext cx="4166650" cy="17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49" title="Screenshot 2025-12-02 at 10.37.02 PM.png"/>
          <p:cNvPicPr preferRelativeResize="0"/>
          <p:nvPr/>
        </p:nvPicPr>
        <p:blipFill rotWithShape="1">
          <a:blip r:embed="rId3">
            <a:alphaModFix/>
          </a:blip>
          <a:srcRect b="0" l="1327" r="12503" t="72882"/>
          <a:stretch/>
        </p:blipFill>
        <p:spPr>
          <a:xfrm>
            <a:off x="405350" y="3883675"/>
            <a:ext cx="4166650" cy="7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50"/>
          <p:cNvSpPr txBox="1"/>
          <p:nvPr>
            <p:ph type="title"/>
          </p:nvPr>
        </p:nvSpPr>
        <p:spPr>
          <a:xfrm>
            <a:off x="716550" y="334825"/>
            <a:ext cx="79014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Random Forest</a:t>
            </a:r>
            <a:endParaRPr sz="2500"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Ensemble of decision trees that </a:t>
            </a: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independently</a:t>
            </a: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 average all decisions into a prediction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6" name="Google Shape;1036;p50"/>
          <p:cNvSpPr txBox="1"/>
          <p:nvPr>
            <p:ph idx="1" type="subTitle"/>
          </p:nvPr>
        </p:nvSpPr>
        <p:spPr>
          <a:xfrm>
            <a:off x="716550" y="3121625"/>
            <a:ext cx="3568500" cy="17373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Each tree overfits features with many unique values. Thus, when averaged out, it predicts positive when decision trees agree and negative when inconclusive.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37" name="Google Shape;1037;p50"/>
          <p:cNvSpPr txBox="1"/>
          <p:nvPr>
            <p:ph idx="1" type="subTitle"/>
          </p:nvPr>
        </p:nvSpPr>
        <p:spPr>
          <a:xfrm>
            <a:off x="716550" y="3121625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Averaged Independent Trees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1038" name="Google Shape;1038;p50" title="Screenshot 2025-12-02 at 10.38.50 PM.png"/>
          <p:cNvPicPr preferRelativeResize="0"/>
          <p:nvPr/>
        </p:nvPicPr>
        <p:blipFill rotWithShape="1">
          <a:blip r:embed="rId3">
            <a:alphaModFix/>
          </a:blip>
          <a:srcRect b="87523" l="1555" r="0" t="804"/>
          <a:stretch/>
        </p:blipFill>
        <p:spPr>
          <a:xfrm>
            <a:off x="4508425" y="1435325"/>
            <a:ext cx="4483176" cy="3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50" title="Screenshot 2025-12-02 at 10.38.50 PM.png"/>
          <p:cNvPicPr preferRelativeResize="0"/>
          <p:nvPr/>
        </p:nvPicPr>
        <p:blipFill rotWithShape="1">
          <a:blip r:embed="rId3">
            <a:alphaModFix/>
          </a:blip>
          <a:srcRect b="25961" l="1555" r="0" t="10595"/>
          <a:stretch/>
        </p:blipFill>
        <p:spPr>
          <a:xfrm>
            <a:off x="4508425" y="1964800"/>
            <a:ext cx="4483176" cy="17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50" title="Screenshot 2025-12-02 at 10.38.50 PM.png"/>
          <p:cNvPicPr preferRelativeResize="0"/>
          <p:nvPr/>
        </p:nvPicPr>
        <p:blipFill rotWithShape="1">
          <a:blip r:embed="rId3">
            <a:alphaModFix/>
          </a:blip>
          <a:srcRect b="2549" l="1555" r="0" t="70560"/>
          <a:stretch/>
        </p:blipFill>
        <p:spPr>
          <a:xfrm>
            <a:off x="4508425" y="3911950"/>
            <a:ext cx="4483176" cy="73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50"/>
          <p:cNvSpPr txBox="1"/>
          <p:nvPr>
            <p:ph idx="1" type="subTitle"/>
          </p:nvPr>
        </p:nvSpPr>
        <p:spPr>
          <a:xfrm>
            <a:off x="716550" y="1281050"/>
            <a:ext cx="3568500" cy="14898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Random Forest averages away weak distributed patterns from features within each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individual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decision tree.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42" name="Google Shape;1042;p50"/>
          <p:cNvSpPr txBox="1"/>
          <p:nvPr>
            <p:ph idx="1" type="subTitle"/>
          </p:nvPr>
        </p:nvSpPr>
        <p:spPr>
          <a:xfrm>
            <a:off x="716550" y="1281050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Combining Distributed Patterns</a:t>
            </a:r>
            <a:endParaRPr b="1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1"/>
          <p:cNvSpPr txBox="1"/>
          <p:nvPr>
            <p:ph type="title"/>
          </p:nvPr>
        </p:nvSpPr>
        <p:spPr>
          <a:xfrm>
            <a:off x="716550" y="334825"/>
            <a:ext cx="7710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XGBoost</a:t>
            </a:r>
            <a:endParaRPr sz="2500"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Ensemble of decision trees that sequentially processes trees to make a prediction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8" name="Google Shape;1048;p51"/>
          <p:cNvSpPr txBox="1"/>
          <p:nvPr>
            <p:ph idx="1" type="subTitle"/>
          </p:nvPr>
        </p:nvSpPr>
        <p:spPr>
          <a:xfrm>
            <a:off x="5361050" y="1336375"/>
            <a:ext cx="3568500" cy="17373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Each tree targets the misclassifications made by previous trees. However, if one tree overfits on a feature, all the subsequent trees will also overfit.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49" name="Google Shape;1049;p51"/>
          <p:cNvSpPr txBox="1"/>
          <p:nvPr>
            <p:ph idx="1" type="subTitle"/>
          </p:nvPr>
        </p:nvSpPr>
        <p:spPr>
          <a:xfrm>
            <a:off x="5361050" y="1336375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Averaged Sequential Trees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050" name="Google Shape;1050;p51"/>
          <p:cNvSpPr txBox="1"/>
          <p:nvPr>
            <p:ph idx="1" type="subTitle"/>
          </p:nvPr>
        </p:nvSpPr>
        <p:spPr>
          <a:xfrm>
            <a:off x="5361050" y="3339800"/>
            <a:ext cx="3568500" cy="14898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XGBoost can fixate on minimizing the error of minor splits and overfitting features with many unique values.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51" name="Google Shape;1051;p51"/>
          <p:cNvSpPr txBox="1"/>
          <p:nvPr>
            <p:ph idx="1" type="subTitle"/>
          </p:nvPr>
        </p:nvSpPr>
        <p:spPr>
          <a:xfrm>
            <a:off x="5361050" y="3339800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Misclassification Focus</a:t>
            </a:r>
            <a:endParaRPr b="1" sz="1800"/>
          </a:p>
        </p:txBody>
      </p:sp>
      <p:pic>
        <p:nvPicPr>
          <p:cNvPr id="1052" name="Google Shape;1052;p51" title="Screenshot 2025-12-02 at 10.40.49 PM.png"/>
          <p:cNvPicPr preferRelativeResize="0"/>
          <p:nvPr/>
        </p:nvPicPr>
        <p:blipFill rotWithShape="1">
          <a:blip r:embed="rId3">
            <a:alphaModFix/>
          </a:blip>
          <a:srcRect b="89834" l="0" r="4607" t="0"/>
          <a:stretch/>
        </p:blipFill>
        <p:spPr>
          <a:xfrm>
            <a:off x="262300" y="1599350"/>
            <a:ext cx="4823100" cy="2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51" title="Screenshot 2025-12-02 at 10.40.49 PM.png"/>
          <p:cNvPicPr preferRelativeResize="0"/>
          <p:nvPr/>
        </p:nvPicPr>
        <p:blipFill rotWithShape="1">
          <a:blip r:embed="rId3">
            <a:alphaModFix/>
          </a:blip>
          <a:srcRect b="25657" l="0" r="4607" t="7319"/>
          <a:stretch/>
        </p:blipFill>
        <p:spPr>
          <a:xfrm>
            <a:off x="262300" y="2031100"/>
            <a:ext cx="4823100" cy="16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51" title="Screenshot 2025-12-02 at 10.40.49 PM.png"/>
          <p:cNvPicPr preferRelativeResize="0"/>
          <p:nvPr/>
        </p:nvPicPr>
        <p:blipFill rotWithShape="1">
          <a:blip r:embed="rId3">
            <a:alphaModFix/>
          </a:blip>
          <a:srcRect b="0" l="0" r="4607" t="70785"/>
          <a:stretch/>
        </p:blipFill>
        <p:spPr>
          <a:xfrm>
            <a:off x="262300" y="3861850"/>
            <a:ext cx="4823100" cy="7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2"/>
          <p:cNvSpPr txBox="1"/>
          <p:nvPr>
            <p:ph type="title"/>
          </p:nvPr>
        </p:nvSpPr>
        <p:spPr>
          <a:xfrm>
            <a:off x="716550" y="334825"/>
            <a:ext cx="7710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Logistic Regression</a:t>
            </a:r>
            <a:endParaRPr sz="2500"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Predicts the probability of a binary outcome for classification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0" name="Google Shape;1060;p52"/>
          <p:cNvSpPr txBox="1"/>
          <p:nvPr>
            <p:ph idx="1" type="subTitle"/>
          </p:nvPr>
        </p:nvSpPr>
        <p:spPr>
          <a:xfrm>
            <a:off x="641350" y="3294250"/>
            <a:ext cx="3568500" cy="1512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The logistic regression model takes 2 minutes on average to run, compared to the ~10 seconds of all 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decision</a:t>
            </a: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 trees.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61" name="Google Shape;1061;p52"/>
          <p:cNvSpPr txBox="1"/>
          <p:nvPr>
            <p:ph idx="1" type="subTitle"/>
          </p:nvPr>
        </p:nvSpPr>
        <p:spPr>
          <a:xfrm>
            <a:off x="641350" y="3294250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Decreased Efficiency</a:t>
            </a:r>
            <a:endParaRPr b="1" sz="1800"/>
          </a:p>
        </p:txBody>
      </p:sp>
      <p:pic>
        <p:nvPicPr>
          <p:cNvPr id="1062" name="Google Shape;1062;p52" title="Screenshot 2025-12-02 at 10.42.55 PM.png"/>
          <p:cNvPicPr preferRelativeResize="0"/>
          <p:nvPr/>
        </p:nvPicPr>
        <p:blipFill rotWithShape="1">
          <a:blip r:embed="rId3">
            <a:alphaModFix/>
          </a:blip>
          <a:srcRect b="88174" l="0" r="24693" t="1180"/>
          <a:stretch/>
        </p:blipFill>
        <p:spPr>
          <a:xfrm>
            <a:off x="4393413" y="1315325"/>
            <a:ext cx="4515751" cy="3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2" title="Screenshot 2025-12-02 at 10.42.55 PM.png"/>
          <p:cNvPicPr preferRelativeResize="0"/>
          <p:nvPr/>
        </p:nvPicPr>
        <p:blipFill rotWithShape="1">
          <a:blip r:embed="rId3">
            <a:alphaModFix/>
          </a:blip>
          <a:srcRect b="25712" l="0" r="23931" t="9830"/>
          <a:stretch/>
        </p:blipFill>
        <p:spPr>
          <a:xfrm>
            <a:off x="4370525" y="1820625"/>
            <a:ext cx="4561525" cy="200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52" title="Screenshot 2025-12-02 at 10.42.55 PM.png"/>
          <p:cNvPicPr preferRelativeResize="0"/>
          <p:nvPr/>
        </p:nvPicPr>
        <p:blipFill rotWithShape="1">
          <a:blip r:embed="rId3">
            <a:alphaModFix/>
          </a:blip>
          <a:srcRect b="0" l="0" r="23931" t="74064"/>
          <a:stretch/>
        </p:blipFill>
        <p:spPr>
          <a:xfrm>
            <a:off x="4370525" y="4000450"/>
            <a:ext cx="4561525" cy="8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52"/>
          <p:cNvSpPr txBox="1"/>
          <p:nvPr>
            <p:ph idx="1" type="subTitle"/>
          </p:nvPr>
        </p:nvSpPr>
        <p:spPr>
          <a:xfrm>
            <a:off x="641350" y="1315325"/>
            <a:ext cx="3568500" cy="1785600"/>
          </a:xfrm>
          <a:prstGeom prst="rect">
            <a:avLst/>
          </a:prstGeom>
          <a:solidFill>
            <a:schemeClr val="accen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Logistic Regression can model linear relationships, making it well-suited for utilizing TF-IDF vectorization of text inputs to create a new feature.</a:t>
            </a:r>
            <a:endParaRPr sz="15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066" name="Google Shape;1066;p52"/>
          <p:cNvSpPr txBox="1"/>
          <p:nvPr>
            <p:ph idx="1" type="subTitle"/>
          </p:nvPr>
        </p:nvSpPr>
        <p:spPr>
          <a:xfrm>
            <a:off x="641350" y="1315325"/>
            <a:ext cx="3568500" cy="4578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TF-IDF Text Features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3"/>
          <p:cNvSpPr txBox="1"/>
          <p:nvPr>
            <p:ph type="title"/>
          </p:nvPr>
        </p:nvSpPr>
        <p:spPr>
          <a:xfrm>
            <a:off x="716550" y="334825"/>
            <a:ext cx="7710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Which model performed best?</a:t>
            </a:r>
            <a:endParaRPr sz="2500">
              <a:solidFill>
                <a:schemeClr val="accen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Poppins"/>
                <a:ea typeface="Poppins"/>
                <a:cs typeface="Poppins"/>
                <a:sym typeface="Poppins"/>
              </a:rPr>
              <a:t>Predicts the probability of a binary outcome for classification</a:t>
            </a:r>
            <a:endParaRPr i="1" sz="1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2" name="Google Shape;107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200" y="1360550"/>
            <a:ext cx="2845400" cy="2495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50" y="1380300"/>
            <a:ext cx="2818551" cy="2471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3350" y="1360550"/>
            <a:ext cx="2845400" cy="2495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Coefficient Interpretation</a:t>
            </a:r>
            <a:endParaRPr b="0" sz="2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080" name="Google Shape;1080;p54"/>
          <p:cNvSpPr txBox="1"/>
          <p:nvPr>
            <p:ph idx="2" type="subTitle"/>
          </p:nvPr>
        </p:nvSpPr>
        <p:spPr>
          <a:xfrm>
            <a:off x="602000" y="2191575"/>
            <a:ext cx="3549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Coefficients show the log-odds impact on low conversion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coefficient: reduces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 coefficient: increases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jobs are 0.17x likely to be low conversion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Senior</a:t>
            </a:r>
            <a:r>
              <a:rPr lang="en"/>
              <a:t> jobs (director, staff) and field work is 2.4x more likely to be low conversion.</a:t>
            </a:r>
            <a:endParaRPr/>
          </a:p>
        </p:txBody>
      </p:sp>
      <p:sp>
        <p:nvSpPr>
          <p:cNvPr id="1081" name="Google Shape;1081;p54"/>
          <p:cNvSpPr txBox="1"/>
          <p:nvPr>
            <p:ph idx="3" type="subTitle"/>
          </p:nvPr>
        </p:nvSpPr>
        <p:spPr>
          <a:xfrm>
            <a:off x="804551" y="1632675"/>
            <a:ext cx="3118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Coefficients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(Text included)</a:t>
            </a:r>
            <a:endParaRPr/>
          </a:p>
        </p:txBody>
      </p:sp>
      <p:pic>
        <p:nvPicPr>
          <p:cNvPr id="1082" name="Google Shape;108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225" y="1017713"/>
            <a:ext cx="4167051" cy="17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213" y="2833701"/>
            <a:ext cx="4099966" cy="218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Coefficient Interpretation</a:t>
            </a:r>
            <a:endParaRPr b="0" sz="26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089" name="Google Shape;1089;p55"/>
          <p:cNvSpPr txBox="1"/>
          <p:nvPr>
            <p:ph idx="2" type="subTitle"/>
          </p:nvPr>
        </p:nvSpPr>
        <p:spPr>
          <a:xfrm>
            <a:off x="602000" y="2191575"/>
            <a:ext cx="3549600" cy="16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f</a:t>
            </a:r>
            <a:r>
              <a:rPr lang="en"/>
              <a:t>eatures that increase risk of low conversion: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Application type (offsite/unknown)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Contract work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Remote missing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Structures features that decrease risk of low conversion:	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Application type (onsite)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Full-time, Internship Work</a:t>
            </a:r>
            <a:endParaRPr/>
          </a:p>
        </p:txBody>
      </p:sp>
      <p:sp>
        <p:nvSpPr>
          <p:cNvPr id="1090" name="Google Shape;1090;p55"/>
          <p:cNvSpPr txBox="1"/>
          <p:nvPr>
            <p:ph idx="3" type="subTitle"/>
          </p:nvPr>
        </p:nvSpPr>
        <p:spPr>
          <a:xfrm>
            <a:off x="804551" y="1632675"/>
            <a:ext cx="31182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Coefficients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(Text excluded)</a:t>
            </a:r>
            <a:endParaRPr/>
          </a:p>
        </p:txBody>
      </p:sp>
      <p:pic>
        <p:nvPicPr>
          <p:cNvPr id="1091" name="Google Shape;1091;p55"/>
          <p:cNvPicPr preferRelativeResize="0"/>
          <p:nvPr/>
        </p:nvPicPr>
        <p:blipFill rotWithShape="1">
          <a:blip r:embed="rId3">
            <a:alphaModFix/>
          </a:blip>
          <a:srcRect b="0" l="0" r="22875" t="0"/>
          <a:stretch/>
        </p:blipFill>
        <p:spPr>
          <a:xfrm>
            <a:off x="4688025" y="1263550"/>
            <a:ext cx="3615276" cy="29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56"/>
          <p:cNvSpPr txBox="1"/>
          <p:nvPr>
            <p:ph type="title"/>
          </p:nvPr>
        </p:nvSpPr>
        <p:spPr>
          <a:xfrm>
            <a:off x="2085025" y="1816050"/>
            <a:ext cx="41583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097" name="Google Shape;1097;p56"/>
          <p:cNvSpPr txBox="1"/>
          <p:nvPr>
            <p:ph idx="2" type="title"/>
          </p:nvPr>
        </p:nvSpPr>
        <p:spPr>
          <a:xfrm>
            <a:off x="1050075" y="1816050"/>
            <a:ext cx="969000" cy="15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098" name="Google Shape;1098;p56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1099" name="Google Shape;1099;p5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1100" name="Google Shape;1100;p5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1" name="Google Shape;1101;p5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2" name="Google Shape;1102;p5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1103" name="Google Shape;1103;p5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04" name="Google Shape;1104;p5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5" name="Google Shape;1105;p5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1106" name="Google Shape;1106;p5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07" name="Google Shape;1107;p5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8" name="Google Shape;1108;p5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109" name="Google Shape;1109;p5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10" name="Google Shape;1110;p5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1" name="Google Shape;1111;p56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112" name="Google Shape;1112;p5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13" name="Google Shape;1113;p5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4" name="Google Shape;1114;p5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115" name="Google Shape;1115;p5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16" name="Google Shape;1116;p5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57"/>
          <p:cNvSpPr txBox="1"/>
          <p:nvPr>
            <p:ph type="title"/>
          </p:nvPr>
        </p:nvSpPr>
        <p:spPr>
          <a:xfrm>
            <a:off x="3556742" y="1408675"/>
            <a:ext cx="3158100" cy="646800"/>
          </a:xfrm>
          <a:prstGeom prst="rect">
            <a:avLst/>
          </a:prstGeom>
        </p:spPr>
        <p:txBody>
          <a:bodyPr anchorCtr="0" anchor="ctr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0"/>
              <a:t>Job Platforms</a:t>
            </a:r>
            <a:endParaRPr sz="2860"/>
          </a:p>
        </p:txBody>
      </p:sp>
      <p:sp>
        <p:nvSpPr>
          <p:cNvPr id="1122" name="Google Shape;1122;p57"/>
          <p:cNvSpPr txBox="1"/>
          <p:nvPr>
            <p:ph idx="2" type="title"/>
          </p:nvPr>
        </p:nvSpPr>
        <p:spPr>
          <a:xfrm>
            <a:off x="3556742" y="2388589"/>
            <a:ext cx="3158100" cy="646800"/>
          </a:xfrm>
          <a:prstGeom prst="rect">
            <a:avLst/>
          </a:prstGeom>
        </p:spPr>
        <p:txBody>
          <a:bodyPr anchorCtr="0" anchor="ctr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0"/>
              <a:t>Recruiters</a:t>
            </a:r>
            <a:endParaRPr sz="2860"/>
          </a:p>
        </p:txBody>
      </p:sp>
      <p:sp>
        <p:nvSpPr>
          <p:cNvPr id="1123" name="Google Shape;1123;p57"/>
          <p:cNvSpPr txBox="1"/>
          <p:nvPr>
            <p:ph idx="4" type="title"/>
          </p:nvPr>
        </p:nvSpPr>
        <p:spPr>
          <a:xfrm>
            <a:off x="3556742" y="3368502"/>
            <a:ext cx="3158100" cy="646800"/>
          </a:xfrm>
          <a:prstGeom prst="rect">
            <a:avLst/>
          </a:prstGeom>
        </p:spPr>
        <p:txBody>
          <a:bodyPr anchorCtr="0" anchor="ctr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0"/>
              <a:t>Candidates</a:t>
            </a:r>
            <a:endParaRPr sz="2860"/>
          </a:p>
        </p:txBody>
      </p:sp>
      <p:sp>
        <p:nvSpPr>
          <p:cNvPr id="1124" name="Google Shape;1124;p57"/>
          <p:cNvSpPr/>
          <p:nvPr/>
        </p:nvSpPr>
        <p:spPr>
          <a:xfrm>
            <a:off x="2429162" y="1408675"/>
            <a:ext cx="6468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5" name="Google Shape;1125;p57"/>
          <p:cNvCxnSpPr>
            <a:stCxn id="1124" idx="3"/>
            <a:endCxn id="1121" idx="1"/>
          </p:cNvCxnSpPr>
          <p:nvPr/>
        </p:nvCxnSpPr>
        <p:spPr>
          <a:xfrm>
            <a:off x="3075962" y="1732075"/>
            <a:ext cx="480900" cy="0"/>
          </a:xfrm>
          <a:prstGeom prst="straightConnector1">
            <a:avLst/>
          </a:prstGeom>
          <a:noFill/>
          <a:ln cap="flat" cmpd="sng" w="80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126" name="Google Shape;1126;p57"/>
          <p:cNvSpPr/>
          <p:nvPr/>
        </p:nvSpPr>
        <p:spPr>
          <a:xfrm>
            <a:off x="2429162" y="2388589"/>
            <a:ext cx="6468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7" name="Google Shape;1127;p57"/>
          <p:cNvCxnSpPr>
            <a:stCxn id="1126" idx="3"/>
            <a:endCxn id="1122" idx="1"/>
          </p:cNvCxnSpPr>
          <p:nvPr/>
        </p:nvCxnSpPr>
        <p:spPr>
          <a:xfrm>
            <a:off x="3075962" y="2711989"/>
            <a:ext cx="480900" cy="0"/>
          </a:xfrm>
          <a:prstGeom prst="straightConnector1">
            <a:avLst/>
          </a:prstGeom>
          <a:noFill/>
          <a:ln cap="flat" cmpd="sng" w="80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128" name="Google Shape;1128;p57"/>
          <p:cNvSpPr/>
          <p:nvPr/>
        </p:nvSpPr>
        <p:spPr>
          <a:xfrm>
            <a:off x="2429162" y="3368503"/>
            <a:ext cx="6468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76900" lIns="76900" spcFirstLastPara="1" rIns="76900" wrap="square" tIns="76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9" name="Google Shape;1129;p57"/>
          <p:cNvCxnSpPr>
            <a:stCxn id="1128" idx="3"/>
            <a:endCxn id="1123" idx="1"/>
          </p:cNvCxnSpPr>
          <p:nvPr/>
        </p:nvCxnSpPr>
        <p:spPr>
          <a:xfrm>
            <a:off x="3075962" y="3691903"/>
            <a:ext cx="480900" cy="0"/>
          </a:xfrm>
          <a:prstGeom prst="straightConnector1">
            <a:avLst/>
          </a:prstGeom>
          <a:noFill/>
          <a:ln cap="flat" cmpd="sng" w="80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  <p:sp>
        <p:nvSpPr>
          <p:cNvPr id="1130" name="Google Shape;1130;p57"/>
          <p:cNvSpPr txBox="1"/>
          <p:nvPr>
            <p:ph type="title"/>
          </p:nvPr>
        </p:nvSpPr>
        <p:spPr>
          <a:xfrm>
            <a:off x="491650" y="7249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Would This Model Impact?</a:t>
            </a:r>
            <a:endParaRPr/>
          </a:p>
        </p:txBody>
      </p:sp>
      <p:sp>
        <p:nvSpPr>
          <p:cNvPr id="1131" name="Google Shape;1131;p57"/>
          <p:cNvSpPr/>
          <p:nvPr/>
        </p:nvSpPr>
        <p:spPr>
          <a:xfrm>
            <a:off x="2583380" y="2534359"/>
            <a:ext cx="338270" cy="355255"/>
          </a:xfrm>
          <a:custGeom>
            <a:rect b="b" l="l" r="r" t="t"/>
            <a:pathLst>
              <a:path extrusionOk="0" h="11713" w="11153">
                <a:moveTo>
                  <a:pt x="9594" y="693"/>
                </a:moveTo>
                <a:cubicBezTo>
                  <a:pt x="9767" y="693"/>
                  <a:pt x="9940" y="764"/>
                  <a:pt x="10082" y="906"/>
                </a:cubicBezTo>
                <a:cubicBezTo>
                  <a:pt x="10365" y="1158"/>
                  <a:pt x="10365" y="1599"/>
                  <a:pt x="10082" y="1883"/>
                </a:cubicBezTo>
                <a:lnTo>
                  <a:pt x="9168" y="2796"/>
                </a:lnTo>
                <a:lnTo>
                  <a:pt x="6175" y="3364"/>
                </a:lnTo>
                <a:lnTo>
                  <a:pt x="6175" y="1410"/>
                </a:lnTo>
                <a:lnTo>
                  <a:pt x="8475" y="1410"/>
                </a:lnTo>
                <a:cubicBezTo>
                  <a:pt x="8538" y="1410"/>
                  <a:pt x="8664" y="1379"/>
                  <a:pt x="8696" y="1284"/>
                </a:cubicBezTo>
                <a:lnTo>
                  <a:pt x="9105" y="906"/>
                </a:lnTo>
                <a:cubicBezTo>
                  <a:pt x="9247" y="764"/>
                  <a:pt x="9420" y="693"/>
                  <a:pt x="9594" y="693"/>
                </a:cubicBezTo>
                <a:close/>
                <a:moveTo>
                  <a:pt x="5136" y="749"/>
                </a:moveTo>
                <a:cubicBezTo>
                  <a:pt x="5325" y="749"/>
                  <a:pt x="5482" y="906"/>
                  <a:pt x="5482" y="1095"/>
                </a:cubicBezTo>
                <a:lnTo>
                  <a:pt x="5482" y="4214"/>
                </a:lnTo>
                <a:cubicBezTo>
                  <a:pt x="5356" y="4151"/>
                  <a:pt x="5230" y="4151"/>
                  <a:pt x="5136" y="4151"/>
                </a:cubicBezTo>
                <a:cubicBezTo>
                  <a:pt x="5010" y="4151"/>
                  <a:pt x="4884" y="4151"/>
                  <a:pt x="4758" y="4214"/>
                </a:cubicBezTo>
                <a:lnTo>
                  <a:pt x="4758" y="1095"/>
                </a:lnTo>
                <a:cubicBezTo>
                  <a:pt x="4758" y="906"/>
                  <a:pt x="4915" y="749"/>
                  <a:pt x="5136" y="749"/>
                </a:cubicBezTo>
                <a:close/>
                <a:moveTo>
                  <a:pt x="5136" y="4844"/>
                </a:moveTo>
                <a:cubicBezTo>
                  <a:pt x="5671" y="4844"/>
                  <a:pt x="6144" y="5317"/>
                  <a:pt x="6144" y="5852"/>
                </a:cubicBezTo>
                <a:cubicBezTo>
                  <a:pt x="6144" y="6419"/>
                  <a:pt x="5671" y="6861"/>
                  <a:pt x="5136" y="6861"/>
                </a:cubicBezTo>
                <a:cubicBezTo>
                  <a:pt x="4568" y="6861"/>
                  <a:pt x="4096" y="6388"/>
                  <a:pt x="4096" y="5852"/>
                </a:cubicBezTo>
                <a:cubicBezTo>
                  <a:pt x="4096" y="5317"/>
                  <a:pt x="4568" y="4844"/>
                  <a:pt x="5136" y="4844"/>
                </a:cubicBezTo>
                <a:close/>
                <a:moveTo>
                  <a:pt x="4096" y="1442"/>
                </a:moveTo>
                <a:lnTo>
                  <a:pt x="4096" y="4529"/>
                </a:lnTo>
                <a:cubicBezTo>
                  <a:pt x="3655" y="4844"/>
                  <a:pt x="3434" y="5348"/>
                  <a:pt x="3434" y="5884"/>
                </a:cubicBezTo>
                <a:cubicBezTo>
                  <a:pt x="3434" y="6136"/>
                  <a:pt x="3466" y="6419"/>
                  <a:pt x="3592" y="6609"/>
                </a:cubicBezTo>
                <a:lnTo>
                  <a:pt x="2332" y="8184"/>
                </a:lnTo>
                <a:cubicBezTo>
                  <a:pt x="1323" y="7522"/>
                  <a:pt x="725" y="6356"/>
                  <a:pt x="725" y="5159"/>
                </a:cubicBezTo>
                <a:cubicBezTo>
                  <a:pt x="662" y="3143"/>
                  <a:pt x="2206" y="1568"/>
                  <a:pt x="4096" y="1442"/>
                </a:cubicBezTo>
                <a:close/>
                <a:moveTo>
                  <a:pt x="8916" y="3521"/>
                </a:moveTo>
                <a:lnTo>
                  <a:pt x="8916" y="4466"/>
                </a:lnTo>
                <a:cubicBezTo>
                  <a:pt x="8916" y="4529"/>
                  <a:pt x="8916" y="4592"/>
                  <a:pt x="8948" y="4624"/>
                </a:cubicBezTo>
                <a:lnTo>
                  <a:pt x="9798" y="6419"/>
                </a:lnTo>
                <a:cubicBezTo>
                  <a:pt x="9893" y="6577"/>
                  <a:pt x="9798" y="6672"/>
                  <a:pt x="9798" y="6735"/>
                </a:cubicBezTo>
                <a:cubicBezTo>
                  <a:pt x="9767" y="6766"/>
                  <a:pt x="9704" y="6892"/>
                  <a:pt x="9546" y="6892"/>
                </a:cubicBezTo>
                <a:lnTo>
                  <a:pt x="9263" y="6892"/>
                </a:lnTo>
                <a:cubicBezTo>
                  <a:pt x="9074" y="6892"/>
                  <a:pt x="8916" y="7050"/>
                  <a:pt x="8916" y="7239"/>
                </a:cubicBezTo>
                <a:lnTo>
                  <a:pt x="8916" y="8341"/>
                </a:lnTo>
                <a:cubicBezTo>
                  <a:pt x="8633" y="8467"/>
                  <a:pt x="8381" y="8656"/>
                  <a:pt x="8286" y="8971"/>
                </a:cubicBezTo>
                <a:lnTo>
                  <a:pt x="6522" y="8971"/>
                </a:lnTo>
                <a:cubicBezTo>
                  <a:pt x="5955" y="8971"/>
                  <a:pt x="5482" y="8499"/>
                  <a:pt x="5482" y="7932"/>
                </a:cubicBezTo>
                <a:lnTo>
                  <a:pt x="5482" y="7554"/>
                </a:lnTo>
                <a:cubicBezTo>
                  <a:pt x="6270" y="7396"/>
                  <a:pt x="6868" y="6672"/>
                  <a:pt x="6868" y="5852"/>
                </a:cubicBezTo>
                <a:cubicBezTo>
                  <a:pt x="6868" y="5317"/>
                  <a:pt x="6585" y="4781"/>
                  <a:pt x="6207" y="4466"/>
                </a:cubicBezTo>
                <a:lnTo>
                  <a:pt x="6207" y="4088"/>
                </a:lnTo>
                <a:lnTo>
                  <a:pt x="8916" y="3521"/>
                </a:lnTo>
                <a:close/>
                <a:moveTo>
                  <a:pt x="9231" y="8940"/>
                </a:moveTo>
                <a:cubicBezTo>
                  <a:pt x="9420" y="8940"/>
                  <a:pt x="9578" y="9097"/>
                  <a:pt x="9578" y="9286"/>
                </a:cubicBezTo>
                <a:cubicBezTo>
                  <a:pt x="9578" y="9475"/>
                  <a:pt x="9420" y="9633"/>
                  <a:pt x="9231" y="9633"/>
                </a:cubicBezTo>
                <a:cubicBezTo>
                  <a:pt x="9011" y="9633"/>
                  <a:pt x="8853" y="9475"/>
                  <a:pt x="8853" y="9286"/>
                </a:cubicBezTo>
                <a:cubicBezTo>
                  <a:pt x="8853" y="9097"/>
                  <a:pt x="9011" y="8940"/>
                  <a:pt x="9231" y="8940"/>
                </a:cubicBezTo>
                <a:close/>
                <a:moveTo>
                  <a:pt x="3970" y="7144"/>
                </a:moveTo>
                <a:cubicBezTo>
                  <a:pt x="4222" y="7365"/>
                  <a:pt x="4442" y="7522"/>
                  <a:pt x="4758" y="7554"/>
                </a:cubicBezTo>
                <a:lnTo>
                  <a:pt x="4758" y="7932"/>
                </a:lnTo>
                <a:cubicBezTo>
                  <a:pt x="4758" y="8877"/>
                  <a:pt x="5514" y="9633"/>
                  <a:pt x="6459" y="9633"/>
                </a:cubicBezTo>
                <a:lnTo>
                  <a:pt x="8223" y="9633"/>
                </a:lnTo>
                <a:cubicBezTo>
                  <a:pt x="8286" y="9727"/>
                  <a:pt x="8318" y="9791"/>
                  <a:pt x="8349" y="9822"/>
                </a:cubicBezTo>
                <a:cubicBezTo>
                  <a:pt x="8034" y="10137"/>
                  <a:pt x="7593" y="10295"/>
                  <a:pt x="7183" y="10295"/>
                </a:cubicBezTo>
                <a:lnTo>
                  <a:pt x="5797" y="10295"/>
                </a:lnTo>
                <a:cubicBezTo>
                  <a:pt x="5608" y="10295"/>
                  <a:pt x="5451" y="10452"/>
                  <a:pt x="5451" y="10673"/>
                </a:cubicBezTo>
                <a:lnTo>
                  <a:pt x="5451" y="11051"/>
                </a:lnTo>
                <a:lnTo>
                  <a:pt x="2710" y="11051"/>
                </a:lnTo>
                <a:lnTo>
                  <a:pt x="2710" y="8719"/>
                </a:lnTo>
                <a:lnTo>
                  <a:pt x="3970" y="7144"/>
                </a:lnTo>
                <a:close/>
                <a:moveTo>
                  <a:pt x="9629" y="0"/>
                </a:moveTo>
                <a:cubicBezTo>
                  <a:pt x="9278" y="0"/>
                  <a:pt x="8932" y="134"/>
                  <a:pt x="8664" y="402"/>
                </a:cubicBezTo>
                <a:lnTo>
                  <a:pt x="8412" y="686"/>
                </a:lnTo>
                <a:lnTo>
                  <a:pt x="6144" y="686"/>
                </a:lnTo>
                <a:cubicBezTo>
                  <a:pt x="5986" y="308"/>
                  <a:pt x="5640" y="24"/>
                  <a:pt x="5167" y="24"/>
                </a:cubicBezTo>
                <a:cubicBezTo>
                  <a:pt x="4726" y="24"/>
                  <a:pt x="4348" y="308"/>
                  <a:pt x="4190" y="686"/>
                </a:cubicBezTo>
                <a:cubicBezTo>
                  <a:pt x="1859" y="812"/>
                  <a:pt x="0" y="2702"/>
                  <a:pt x="0" y="5033"/>
                </a:cubicBezTo>
                <a:cubicBezTo>
                  <a:pt x="0" y="6514"/>
                  <a:pt x="725" y="7900"/>
                  <a:pt x="1922" y="8688"/>
                </a:cubicBezTo>
                <a:lnTo>
                  <a:pt x="2048" y="8782"/>
                </a:lnTo>
                <a:lnTo>
                  <a:pt x="2048" y="11366"/>
                </a:lnTo>
                <a:cubicBezTo>
                  <a:pt x="2048" y="11555"/>
                  <a:pt x="2206" y="11712"/>
                  <a:pt x="2426" y="11712"/>
                </a:cubicBezTo>
                <a:lnTo>
                  <a:pt x="5829" y="11712"/>
                </a:lnTo>
                <a:cubicBezTo>
                  <a:pt x="6018" y="11712"/>
                  <a:pt x="6207" y="11555"/>
                  <a:pt x="6207" y="11366"/>
                </a:cubicBezTo>
                <a:lnTo>
                  <a:pt x="6207" y="10956"/>
                </a:lnTo>
                <a:lnTo>
                  <a:pt x="7215" y="10956"/>
                </a:lnTo>
                <a:cubicBezTo>
                  <a:pt x="7877" y="10956"/>
                  <a:pt x="8475" y="10704"/>
                  <a:pt x="8948" y="10232"/>
                </a:cubicBezTo>
                <a:cubicBezTo>
                  <a:pt x="9074" y="10263"/>
                  <a:pt x="9137" y="10263"/>
                  <a:pt x="9263" y="10263"/>
                </a:cubicBezTo>
                <a:cubicBezTo>
                  <a:pt x="9830" y="10263"/>
                  <a:pt x="10302" y="9791"/>
                  <a:pt x="10302" y="9223"/>
                </a:cubicBezTo>
                <a:cubicBezTo>
                  <a:pt x="10302" y="8814"/>
                  <a:pt x="10019" y="8404"/>
                  <a:pt x="9609" y="8247"/>
                </a:cubicBezTo>
                <a:lnTo>
                  <a:pt x="9609" y="7491"/>
                </a:lnTo>
                <a:cubicBezTo>
                  <a:pt x="9924" y="7459"/>
                  <a:pt x="10239" y="7302"/>
                  <a:pt x="10397" y="7018"/>
                </a:cubicBezTo>
                <a:cubicBezTo>
                  <a:pt x="10617" y="6703"/>
                  <a:pt x="10617" y="6356"/>
                  <a:pt x="10460" y="6041"/>
                </a:cubicBezTo>
                <a:lnTo>
                  <a:pt x="9609" y="4403"/>
                </a:lnTo>
                <a:lnTo>
                  <a:pt x="9609" y="3332"/>
                </a:lnTo>
                <a:lnTo>
                  <a:pt x="10617" y="2355"/>
                </a:lnTo>
                <a:cubicBezTo>
                  <a:pt x="11153" y="1788"/>
                  <a:pt x="11153" y="938"/>
                  <a:pt x="10617" y="402"/>
                </a:cubicBezTo>
                <a:cubicBezTo>
                  <a:pt x="10334" y="134"/>
                  <a:pt x="9979" y="0"/>
                  <a:pt x="96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57"/>
          <p:cNvSpPr/>
          <p:nvPr/>
        </p:nvSpPr>
        <p:spPr>
          <a:xfrm>
            <a:off x="2662857" y="3492391"/>
            <a:ext cx="179387" cy="340116"/>
          </a:xfrm>
          <a:custGeom>
            <a:rect b="b" l="l" r="r" t="t"/>
            <a:pathLst>
              <a:path extrusionOk="0" h="19322" w="10191">
                <a:moveTo>
                  <a:pt x="5102" y="1126"/>
                </a:moveTo>
                <a:cubicBezTo>
                  <a:pt x="5353" y="1126"/>
                  <a:pt x="5610" y="1220"/>
                  <a:pt x="5819" y="1429"/>
                </a:cubicBezTo>
                <a:cubicBezTo>
                  <a:pt x="6115" y="1724"/>
                  <a:pt x="6202" y="2165"/>
                  <a:pt x="6042" y="2549"/>
                </a:cubicBezTo>
                <a:cubicBezTo>
                  <a:pt x="5882" y="2932"/>
                  <a:pt x="5508" y="3180"/>
                  <a:pt x="5094" y="3180"/>
                </a:cubicBezTo>
                <a:cubicBezTo>
                  <a:pt x="4526" y="3180"/>
                  <a:pt x="4070" y="2721"/>
                  <a:pt x="4067" y="2156"/>
                </a:cubicBezTo>
                <a:cubicBezTo>
                  <a:pt x="4067" y="1537"/>
                  <a:pt x="4574" y="1126"/>
                  <a:pt x="5102" y="1126"/>
                </a:cubicBezTo>
                <a:close/>
                <a:moveTo>
                  <a:pt x="7513" y="5432"/>
                </a:moveTo>
                <a:cubicBezTo>
                  <a:pt x="8364" y="5432"/>
                  <a:pt x="9059" y="6214"/>
                  <a:pt x="9059" y="7175"/>
                </a:cubicBezTo>
                <a:lnTo>
                  <a:pt x="9059" y="10433"/>
                </a:lnTo>
                <a:cubicBezTo>
                  <a:pt x="9059" y="10747"/>
                  <a:pt x="8805" y="11000"/>
                  <a:pt x="8491" y="11000"/>
                </a:cubicBezTo>
                <a:cubicBezTo>
                  <a:pt x="8177" y="11000"/>
                  <a:pt x="7926" y="10747"/>
                  <a:pt x="7926" y="10433"/>
                </a:cubicBezTo>
                <a:lnTo>
                  <a:pt x="7926" y="7395"/>
                </a:lnTo>
                <a:cubicBezTo>
                  <a:pt x="7926" y="7081"/>
                  <a:pt x="7673" y="6830"/>
                  <a:pt x="7359" y="6830"/>
                </a:cubicBezTo>
                <a:cubicBezTo>
                  <a:pt x="7045" y="6830"/>
                  <a:pt x="6794" y="7081"/>
                  <a:pt x="6794" y="7395"/>
                </a:cubicBezTo>
                <a:lnTo>
                  <a:pt x="6794" y="17625"/>
                </a:lnTo>
                <a:cubicBezTo>
                  <a:pt x="6794" y="17936"/>
                  <a:pt x="6540" y="18190"/>
                  <a:pt x="6226" y="18190"/>
                </a:cubicBezTo>
                <a:cubicBezTo>
                  <a:pt x="5912" y="18190"/>
                  <a:pt x="5662" y="17936"/>
                  <a:pt x="5662" y="17625"/>
                </a:cubicBezTo>
                <a:lnTo>
                  <a:pt x="5662" y="11867"/>
                </a:lnTo>
                <a:cubicBezTo>
                  <a:pt x="5662" y="11556"/>
                  <a:pt x="5408" y="11302"/>
                  <a:pt x="5094" y="11302"/>
                </a:cubicBezTo>
                <a:cubicBezTo>
                  <a:pt x="4780" y="11302"/>
                  <a:pt x="4529" y="11556"/>
                  <a:pt x="4529" y="11867"/>
                </a:cubicBezTo>
                <a:lnTo>
                  <a:pt x="4529" y="17625"/>
                </a:lnTo>
                <a:cubicBezTo>
                  <a:pt x="4529" y="17936"/>
                  <a:pt x="4276" y="18190"/>
                  <a:pt x="3962" y="18190"/>
                </a:cubicBezTo>
                <a:cubicBezTo>
                  <a:pt x="3648" y="18190"/>
                  <a:pt x="3397" y="17936"/>
                  <a:pt x="3397" y="17625"/>
                </a:cubicBezTo>
                <a:lnTo>
                  <a:pt x="3397" y="7395"/>
                </a:lnTo>
                <a:cubicBezTo>
                  <a:pt x="3397" y="7081"/>
                  <a:pt x="3143" y="6830"/>
                  <a:pt x="2829" y="6830"/>
                </a:cubicBezTo>
                <a:cubicBezTo>
                  <a:pt x="2515" y="6830"/>
                  <a:pt x="2265" y="7081"/>
                  <a:pt x="2265" y="7395"/>
                </a:cubicBezTo>
                <a:lnTo>
                  <a:pt x="2265" y="10433"/>
                </a:lnTo>
                <a:cubicBezTo>
                  <a:pt x="2265" y="10747"/>
                  <a:pt x="2011" y="11000"/>
                  <a:pt x="1697" y="11000"/>
                </a:cubicBezTo>
                <a:cubicBezTo>
                  <a:pt x="1383" y="11000"/>
                  <a:pt x="1133" y="10747"/>
                  <a:pt x="1133" y="10433"/>
                </a:cubicBezTo>
                <a:lnTo>
                  <a:pt x="1133" y="7175"/>
                </a:lnTo>
                <a:cubicBezTo>
                  <a:pt x="1133" y="6214"/>
                  <a:pt x="1824" y="5432"/>
                  <a:pt x="2675" y="5432"/>
                </a:cubicBezTo>
                <a:close/>
                <a:moveTo>
                  <a:pt x="5094" y="0"/>
                </a:moveTo>
                <a:cubicBezTo>
                  <a:pt x="3950" y="0"/>
                  <a:pt x="3002" y="894"/>
                  <a:pt x="2938" y="2038"/>
                </a:cubicBezTo>
                <a:cubicBezTo>
                  <a:pt x="2878" y="3180"/>
                  <a:pt x="3720" y="4173"/>
                  <a:pt x="4859" y="4300"/>
                </a:cubicBezTo>
                <a:lnTo>
                  <a:pt x="2675" y="4300"/>
                </a:lnTo>
                <a:cubicBezTo>
                  <a:pt x="1199" y="4300"/>
                  <a:pt x="0" y="5589"/>
                  <a:pt x="0" y="7175"/>
                </a:cubicBezTo>
                <a:lnTo>
                  <a:pt x="0" y="10433"/>
                </a:lnTo>
                <a:cubicBezTo>
                  <a:pt x="0" y="11403"/>
                  <a:pt x="797" y="12134"/>
                  <a:pt x="1698" y="12134"/>
                </a:cubicBezTo>
                <a:cubicBezTo>
                  <a:pt x="1885" y="12134"/>
                  <a:pt x="2076" y="12103"/>
                  <a:pt x="2265" y="12036"/>
                </a:cubicBezTo>
                <a:lnTo>
                  <a:pt x="2265" y="17625"/>
                </a:lnTo>
                <a:cubicBezTo>
                  <a:pt x="2265" y="18561"/>
                  <a:pt x="3023" y="19322"/>
                  <a:pt x="3962" y="19322"/>
                </a:cubicBezTo>
                <a:cubicBezTo>
                  <a:pt x="4378" y="19322"/>
                  <a:pt x="4783" y="19168"/>
                  <a:pt x="5094" y="18887"/>
                </a:cubicBezTo>
                <a:cubicBezTo>
                  <a:pt x="5412" y="19172"/>
                  <a:pt x="5817" y="19321"/>
                  <a:pt x="6228" y="19321"/>
                </a:cubicBezTo>
                <a:cubicBezTo>
                  <a:pt x="6462" y="19321"/>
                  <a:pt x="6697" y="19272"/>
                  <a:pt x="6918" y="19174"/>
                </a:cubicBezTo>
                <a:cubicBezTo>
                  <a:pt x="7531" y="18899"/>
                  <a:pt x="7923" y="18292"/>
                  <a:pt x="7926" y="17625"/>
                </a:cubicBezTo>
                <a:lnTo>
                  <a:pt x="7926" y="12036"/>
                </a:lnTo>
                <a:cubicBezTo>
                  <a:pt x="8115" y="12103"/>
                  <a:pt x="8305" y="12134"/>
                  <a:pt x="8492" y="12134"/>
                </a:cubicBezTo>
                <a:cubicBezTo>
                  <a:pt x="9392" y="12134"/>
                  <a:pt x="10188" y="11403"/>
                  <a:pt x="10191" y="10433"/>
                </a:cubicBezTo>
                <a:lnTo>
                  <a:pt x="10191" y="7175"/>
                </a:lnTo>
                <a:cubicBezTo>
                  <a:pt x="10191" y="5589"/>
                  <a:pt x="8989" y="4300"/>
                  <a:pt x="7513" y="4300"/>
                </a:cubicBezTo>
                <a:lnTo>
                  <a:pt x="5330" y="4300"/>
                </a:lnTo>
                <a:cubicBezTo>
                  <a:pt x="6468" y="4173"/>
                  <a:pt x="7310" y="3180"/>
                  <a:pt x="7250" y="2038"/>
                </a:cubicBezTo>
                <a:cubicBezTo>
                  <a:pt x="7187" y="894"/>
                  <a:pt x="6238" y="0"/>
                  <a:pt x="50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133" name="Google Shape;1133;p57"/>
          <p:cNvGrpSpPr/>
          <p:nvPr/>
        </p:nvGrpSpPr>
        <p:grpSpPr>
          <a:xfrm>
            <a:off x="2569836" y="1587188"/>
            <a:ext cx="365344" cy="289753"/>
            <a:chOff x="-62882850" y="1999375"/>
            <a:chExt cx="315850" cy="250500"/>
          </a:xfrm>
        </p:grpSpPr>
        <p:sp>
          <p:nvSpPr>
            <p:cNvPr id="1134" name="Google Shape;1134;p57"/>
            <p:cNvSpPr/>
            <p:nvPr/>
          </p:nvSpPr>
          <p:spPr>
            <a:xfrm>
              <a:off x="-62882850" y="1999375"/>
              <a:ext cx="315850" cy="250500"/>
            </a:xfrm>
            <a:custGeom>
              <a:rect b="b" l="l" r="r" t="t"/>
              <a:pathLst>
                <a:path extrusionOk="0" h="10020" w="12634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57"/>
            <p:cNvSpPr/>
            <p:nvPr/>
          </p:nvSpPr>
          <p:spPr>
            <a:xfrm>
              <a:off x="-62806475" y="2062375"/>
              <a:ext cx="146525" cy="103800"/>
            </a:xfrm>
            <a:custGeom>
              <a:rect b="b" l="l" r="r" t="t"/>
              <a:pathLst>
                <a:path extrusionOk="0" h="4152" w="5861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58"/>
          <p:cNvSpPr txBox="1"/>
          <p:nvPr>
            <p:ph type="title"/>
          </p:nvPr>
        </p:nvSpPr>
        <p:spPr>
          <a:xfrm>
            <a:off x="155675" y="2418325"/>
            <a:ext cx="4279500" cy="19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 Platforms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58"/>
          <p:cNvSpPr txBox="1"/>
          <p:nvPr>
            <p:ph idx="1" type="subTitle"/>
          </p:nvPr>
        </p:nvSpPr>
        <p:spPr>
          <a:xfrm>
            <a:off x="4572000" y="2144350"/>
            <a:ext cx="43917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Optimize </a:t>
            </a:r>
            <a:r>
              <a:rPr lang="en"/>
              <a:t>recommendation</a:t>
            </a:r>
            <a:r>
              <a:rPr lang="en"/>
              <a:t> algorithms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Increase brand reliability with candidates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Flag low converting posts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Push high converting posts to feeds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Suggest edits to recruiting teams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“Senior roles in your industry convert poorly without remote flexibility”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Model becomes feedback engine</a:t>
            </a:r>
            <a:endParaRPr/>
          </a:p>
        </p:txBody>
      </p:sp>
      <p:grpSp>
        <p:nvGrpSpPr>
          <p:cNvPr id="1142" name="Google Shape;1142;p58"/>
          <p:cNvGrpSpPr/>
          <p:nvPr/>
        </p:nvGrpSpPr>
        <p:grpSpPr>
          <a:xfrm>
            <a:off x="-1555691" y="3874548"/>
            <a:ext cx="3140396" cy="541907"/>
            <a:chOff x="-528216" y="3116173"/>
            <a:chExt cx="3140396" cy="541907"/>
          </a:xfrm>
        </p:grpSpPr>
        <p:grpSp>
          <p:nvGrpSpPr>
            <p:cNvPr id="1143" name="Google Shape;1143;p58"/>
            <p:cNvGrpSpPr/>
            <p:nvPr/>
          </p:nvGrpSpPr>
          <p:grpSpPr>
            <a:xfrm>
              <a:off x="-528216" y="3434317"/>
              <a:ext cx="2877996" cy="223763"/>
              <a:chOff x="1748550" y="2064750"/>
              <a:chExt cx="3573375" cy="277863"/>
            </a:xfrm>
          </p:grpSpPr>
          <p:sp>
            <p:nvSpPr>
              <p:cNvPr id="1144" name="Google Shape;1144;p58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45" name="Google Shape;1145;p58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6" name="Google Shape;1146;p58"/>
            <p:cNvGrpSpPr/>
            <p:nvPr/>
          </p:nvGrpSpPr>
          <p:grpSpPr>
            <a:xfrm>
              <a:off x="-528132" y="3317008"/>
              <a:ext cx="2430997" cy="185534"/>
              <a:chOff x="1748547" y="1392116"/>
              <a:chExt cx="5911958" cy="451312"/>
            </a:xfrm>
          </p:grpSpPr>
          <p:sp>
            <p:nvSpPr>
              <p:cNvPr id="1147" name="Google Shape;1147;p58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48" name="Google Shape;1148;p58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58"/>
            <p:cNvGrpSpPr/>
            <p:nvPr/>
          </p:nvGrpSpPr>
          <p:grpSpPr>
            <a:xfrm>
              <a:off x="-528216" y="3116173"/>
              <a:ext cx="3140396" cy="45661"/>
              <a:chOff x="1748550" y="1449263"/>
              <a:chExt cx="3899175" cy="56700"/>
            </a:xfrm>
          </p:grpSpPr>
          <p:cxnSp>
            <p:nvCxnSpPr>
              <p:cNvPr id="1150" name="Google Shape;1150;p58"/>
              <p:cNvCxnSpPr/>
              <p:nvPr/>
            </p:nvCxnSpPr>
            <p:spPr>
              <a:xfrm>
                <a:off x="1748550" y="1477625"/>
                <a:ext cx="384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1" name="Google Shape;1151;p58"/>
              <p:cNvSpPr/>
              <p:nvPr/>
            </p:nvSpPr>
            <p:spPr>
              <a:xfrm>
                <a:off x="5591025" y="1449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2" name="Google Shape;1152;p58"/>
          <p:cNvGrpSpPr/>
          <p:nvPr/>
        </p:nvGrpSpPr>
        <p:grpSpPr>
          <a:xfrm flipH="1">
            <a:off x="6222550" y="407154"/>
            <a:ext cx="3094729" cy="1111283"/>
            <a:chOff x="1748550" y="1613039"/>
            <a:chExt cx="3842475" cy="1379962"/>
          </a:xfrm>
        </p:grpSpPr>
        <p:grpSp>
          <p:nvGrpSpPr>
            <p:cNvPr id="1153" name="Google Shape;1153;p58"/>
            <p:cNvGrpSpPr/>
            <p:nvPr/>
          </p:nvGrpSpPr>
          <p:grpSpPr>
            <a:xfrm>
              <a:off x="1754675" y="2577138"/>
              <a:ext cx="1945675" cy="56700"/>
              <a:chOff x="1754675" y="2661275"/>
              <a:chExt cx="1945675" cy="56700"/>
            </a:xfrm>
          </p:grpSpPr>
          <p:cxnSp>
            <p:nvCxnSpPr>
              <p:cNvPr id="1154" name="Google Shape;1154;p58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55" name="Google Shape;1155;p58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6" name="Google Shape;1156;p58"/>
            <p:cNvGrpSpPr/>
            <p:nvPr/>
          </p:nvGrpSpPr>
          <p:grpSpPr>
            <a:xfrm>
              <a:off x="1754616" y="2823901"/>
              <a:ext cx="1938597" cy="169100"/>
              <a:chOff x="1754675" y="2824000"/>
              <a:chExt cx="4728285" cy="412439"/>
            </a:xfrm>
          </p:grpSpPr>
          <p:sp>
            <p:nvSpPr>
              <p:cNvPr id="1157" name="Google Shape;1157;p58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58" name="Google Shape;1158;p58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9" name="Google Shape;1159;p58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1160" name="Google Shape;1160;p58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61" name="Google Shape;1161;p58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2" name="Google Shape;1162;p58"/>
            <p:cNvGrpSpPr/>
            <p:nvPr/>
          </p:nvGrpSpPr>
          <p:grpSpPr>
            <a:xfrm>
              <a:off x="1748550" y="1758700"/>
              <a:ext cx="3573375" cy="277863"/>
              <a:chOff x="1748550" y="2064750"/>
              <a:chExt cx="3573375" cy="277863"/>
            </a:xfrm>
          </p:grpSpPr>
          <p:sp>
            <p:nvSpPr>
              <p:cNvPr id="1163" name="Google Shape;1163;p58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64" name="Google Shape;1164;p58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5" name="Google Shape;1165;p58"/>
            <p:cNvGrpSpPr/>
            <p:nvPr/>
          </p:nvGrpSpPr>
          <p:grpSpPr>
            <a:xfrm>
              <a:off x="1748560" y="1613039"/>
              <a:ext cx="3018055" cy="230395"/>
              <a:chOff x="1748547" y="1392116"/>
              <a:chExt cx="5911958" cy="451312"/>
            </a:xfrm>
          </p:grpSpPr>
          <p:sp>
            <p:nvSpPr>
              <p:cNvPr id="1166" name="Google Shape;1166;p58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67" name="Google Shape;1167;p58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8" name="Google Shape;1168;p58"/>
            <p:cNvGrpSpPr/>
            <p:nvPr/>
          </p:nvGrpSpPr>
          <p:grpSpPr>
            <a:xfrm>
              <a:off x="1766900" y="2120038"/>
              <a:ext cx="3737650" cy="56700"/>
              <a:chOff x="1766900" y="2869225"/>
              <a:chExt cx="3737650" cy="56700"/>
            </a:xfrm>
          </p:grpSpPr>
          <p:cxnSp>
            <p:nvCxnSpPr>
              <p:cNvPr id="1169" name="Google Shape;1169;p58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70" name="Google Shape;1170;p58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9"/>
          <p:cNvSpPr txBox="1"/>
          <p:nvPr>
            <p:ph type="title"/>
          </p:nvPr>
        </p:nvSpPr>
        <p:spPr>
          <a:xfrm>
            <a:off x="134900" y="1616075"/>
            <a:ext cx="4279500" cy="19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Recruiters</a:t>
            </a:r>
            <a:endParaRPr/>
          </a:p>
        </p:txBody>
      </p:sp>
      <p:sp>
        <p:nvSpPr>
          <p:cNvPr id="1176" name="Google Shape;1176;p59"/>
          <p:cNvSpPr txBox="1"/>
          <p:nvPr>
            <p:ph idx="1" type="subTitle"/>
          </p:nvPr>
        </p:nvSpPr>
        <p:spPr>
          <a:xfrm>
            <a:off x="4414400" y="2248125"/>
            <a:ext cx="45327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Identify underperforming job postings early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Intervene before a job fails to attract talent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Produce actionable insights</a:t>
            </a:r>
            <a:endParaRPr sz="15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“Adding salary ranges will help conversion odds!”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“This </a:t>
            </a:r>
            <a:r>
              <a:rPr lang="en"/>
              <a:t>description</a:t>
            </a:r>
            <a:r>
              <a:rPr lang="en"/>
              <a:t> is lengthy, consider shortening for a higher application rate”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“You might want to relax overly strict requirements!”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Improve jobs postings through transparency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Always list salary, location, clear responsibilities</a:t>
            </a:r>
            <a:endParaRPr/>
          </a:p>
        </p:txBody>
      </p:sp>
      <p:grpSp>
        <p:nvGrpSpPr>
          <p:cNvPr id="1177" name="Google Shape;1177;p59"/>
          <p:cNvGrpSpPr/>
          <p:nvPr/>
        </p:nvGrpSpPr>
        <p:grpSpPr>
          <a:xfrm>
            <a:off x="-1555691" y="3874548"/>
            <a:ext cx="3140396" cy="541907"/>
            <a:chOff x="-528216" y="3116173"/>
            <a:chExt cx="3140396" cy="541907"/>
          </a:xfrm>
        </p:grpSpPr>
        <p:grpSp>
          <p:nvGrpSpPr>
            <p:cNvPr id="1178" name="Google Shape;1178;p59"/>
            <p:cNvGrpSpPr/>
            <p:nvPr/>
          </p:nvGrpSpPr>
          <p:grpSpPr>
            <a:xfrm>
              <a:off x="-528216" y="3434317"/>
              <a:ext cx="2877996" cy="223763"/>
              <a:chOff x="1748550" y="2064750"/>
              <a:chExt cx="3573375" cy="277863"/>
            </a:xfrm>
          </p:grpSpPr>
          <p:sp>
            <p:nvSpPr>
              <p:cNvPr id="1179" name="Google Shape;1179;p5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80" name="Google Shape;1180;p5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1" name="Google Shape;1181;p59"/>
            <p:cNvGrpSpPr/>
            <p:nvPr/>
          </p:nvGrpSpPr>
          <p:grpSpPr>
            <a:xfrm>
              <a:off x="-528132" y="3317008"/>
              <a:ext cx="2430997" cy="185534"/>
              <a:chOff x="1748547" y="1392116"/>
              <a:chExt cx="5911958" cy="451312"/>
            </a:xfrm>
          </p:grpSpPr>
          <p:sp>
            <p:nvSpPr>
              <p:cNvPr id="1182" name="Google Shape;1182;p5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83" name="Google Shape;1183;p5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4" name="Google Shape;1184;p59"/>
            <p:cNvGrpSpPr/>
            <p:nvPr/>
          </p:nvGrpSpPr>
          <p:grpSpPr>
            <a:xfrm>
              <a:off x="-528216" y="3116173"/>
              <a:ext cx="3140396" cy="45661"/>
              <a:chOff x="1748550" y="1449263"/>
              <a:chExt cx="3899175" cy="56700"/>
            </a:xfrm>
          </p:grpSpPr>
          <p:cxnSp>
            <p:nvCxnSpPr>
              <p:cNvPr id="1185" name="Google Shape;1185;p59"/>
              <p:cNvCxnSpPr/>
              <p:nvPr/>
            </p:nvCxnSpPr>
            <p:spPr>
              <a:xfrm>
                <a:off x="1748550" y="1477625"/>
                <a:ext cx="384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86" name="Google Shape;1186;p59"/>
              <p:cNvSpPr/>
              <p:nvPr/>
            </p:nvSpPr>
            <p:spPr>
              <a:xfrm>
                <a:off x="5591025" y="1449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87" name="Google Shape;1187;p59"/>
          <p:cNvGrpSpPr/>
          <p:nvPr/>
        </p:nvGrpSpPr>
        <p:grpSpPr>
          <a:xfrm flipH="1">
            <a:off x="6388625" y="448654"/>
            <a:ext cx="3094729" cy="1111283"/>
            <a:chOff x="1748550" y="1613039"/>
            <a:chExt cx="3842475" cy="1379962"/>
          </a:xfrm>
        </p:grpSpPr>
        <p:grpSp>
          <p:nvGrpSpPr>
            <p:cNvPr id="1188" name="Google Shape;1188;p59"/>
            <p:cNvGrpSpPr/>
            <p:nvPr/>
          </p:nvGrpSpPr>
          <p:grpSpPr>
            <a:xfrm>
              <a:off x="1754675" y="2577138"/>
              <a:ext cx="1945675" cy="56700"/>
              <a:chOff x="1754675" y="2661275"/>
              <a:chExt cx="1945675" cy="56700"/>
            </a:xfrm>
          </p:grpSpPr>
          <p:cxnSp>
            <p:nvCxnSpPr>
              <p:cNvPr id="1189" name="Google Shape;1189;p59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0" name="Google Shape;1190;p59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1" name="Google Shape;1191;p59"/>
            <p:cNvGrpSpPr/>
            <p:nvPr/>
          </p:nvGrpSpPr>
          <p:grpSpPr>
            <a:xfrm>
              <a:off x="1754616" y="2823901"/>
              <a:ext cx="1938597" cy="169100"/>
              <a:chOff x="1754675" y="2824000"/>
              <a:chExt cx="4728285" cy="412439"/>
            </a:xfrm>
          </p:grpSpPr>
          <p:sp>
            <p:nvSpPr>
              <p:cNvPr id="1192" name="Google Shape;1192;p59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93" name="Google Shape;1193;p59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4" name="Google Shape;1194;p59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1195" name="Google Shape;1195;p59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96" name="Google Shape;1196;p59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7" name="Google Shape;1197;p59"/>
            <p:cNvGrpSpPr/>
            <p:nvPr/>
          </p:nvGrpSpPr>
          <p:grpSpPr>
            <a:xfrm>
              <a:off x="1748550" y="1758700"/>
              <a:ext cx="3573375" cy="277863"/>
              <a:chOff x="1748550" y="2064750"/>
              <a:chExt cx="3573375" cy="277863"/>
            </a:xfrm>
          </p:grpSpPr>
          <p:sp>
            <p:nvSpPr>
              <p:cNvPr id="1198" name="Google Shape;1198;p59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99" name="Google Shape;1199;p59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0" name="Google Shape;1200;p59"/>
            <p:cNvGrpSpPr/>
            <p:nvPr/>
          </p:nvGrpSpPr>
          <p:grpSpPr>
            <a:xfrm>
              <a:off x="1748560" y="1613039"/>
              <a:ext cx="3018055" cy="230395"/>
              <a:chOff x="1748547" y="1392116"/>
              <a:chExt cx="5911958" cy="451312"/>
            </a:xfrm>
          </p:grpSpPr>
          <p:sp>
            <p:nvSpPr>
              <p:cNvPr id="1201" name="Google Shape;1201;p59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02" name="Google Shape;1202;p59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3" name="Google Shape;1203;p59"/>
            <p:cNvGrpSpPr/>
            <p:nvPr/>
          </p:nvGrpSpPr>
          <p:grpSpPr>
            <a:xfrm>
              <a:off x="1766900" y="2120038"/>
              <a:ext cx="3737650" cy="56700"/>
              <a:chOff x="1766900" y="2869225"/>
              <a:chExt cx="3737650" cy="56700"/>
            </a:xfrm>
          </p:grpSpPr>
          <p:cxnSp>
            <p:nvCxnSpPr>
              <p:cNvPr id="1204" name="Google Shape;1204;p59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5" name="Google Shape;1205;p59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60"/>
          <p:cNvSpPr txBox="1"/>
          <p:nvPr>
            <p:ph type="title"/>
          </p:nvPr>
        </p:nvSpPr>
        <p:spPr>
          <a:xfrm>
            <a:off x="134900" y="1616075"/>
            <a:ext cx="4279500" cy="19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Candidates</a:t>
            </a:r>
            <a:endParaRPr/>
          </a:p>
        </p:txBody>
      </p:sp>
      <p:sp>
        <p:nvSpPr>
          <p:cNvPr id="1211" name="Google Shape;1211;p60"/>
          <p:cNvSpPr txBox="1"/>
          <p:nvPr>
            <p:ph idx="1" type="subTitle"/>
          </p:nvPr>
        </p:nvSpPr>
        <p:spPr>
          <a:xfrm>
            <a:off x="4555250" y="2102825"/>
            <a:ext cx="4391700" cy="9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Job Seekers gain when there is transparency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More transparent compensation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Clearer expectations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Better-quality postings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Less time wasted on unclear/incomplete ads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Fairer job market</a:t>
            </a:r>
            <a:endParaRPr b="1"/>
          </a:p>
        </p:txBody>
      </p:sp>
      <p:grpSp>
        <p:nvGrpSpPr>
          <p:cNvPr id="1212" name="Google Shape;1212;p60"/>
          <p:cNvGrpSpPr/>
          <p:nvPr/>
        </p:nvGrpSpPr>
        <p:grpSpPr>
          <a:xfrm>
            <a:off x="-1555691" y="3874548"/>
            <a:ext cx="3140396" cy="541907"/>
            <a:chOff x="-528216" y="3116173"/>
            <a:chExt cx="3140396" cy="541907"/>
          </a:xfrm>
        </p:grpSpPr>
        <p:grpSp>
          <p:nvGrpSpPr>
            <p:cNvPr id="1213" name="Google Shape;1213;p60"/>
            <p:cNvGrpSpPr/>
            <p:nvPr/>
          </p:nvGrpSpPr>
          <p:grpSpPr>
            <a:xfrm>
              <a:off x="-528216" y="3434317"/>
              <a:ext cx="2877996" cy="223763"/>
              <a:chOff x="1748550" y="2064750"/>
              <a:chExt cx="3573375" cy="277863"/>
            </a:xfrm>
          </p:grpSpPr>
          <p:sp>
            <p:nvSpPr>
              <p:cNvPr id="1214" name="Google Shape;1214;p6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15" name="Google Shape;1215;p6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6" name="Google Shape;1216;p60"/>
            <p:cNvGrpSpPr/>
            <p:nvPr/>
          </p:nvGrpSpPr>
          <p:grpSpPr>
            <a:xfrm>
              <a:off x="-528132" y="3317008"/>
              <a:ext cx="2430997" cy="185534"/>
              <a:chOff x="1748547" y="1392116"/>
              <a:chExt cx="5911958" cy="451312"/>
            </a:xfrm>
          </p:grpSpPr>
          <p:sp>
            <p:nvSpPr>
              <p:cNvPr id="1217" name="Google Shape;1217;p6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18" name="Google Shape;1218;p6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9" name="Google Shape;1219;p60"/>
            <p:cNvGrpSpPr/>
            <p:nvPr/>
          </p:nvGrpSpPr>
          <p:grpSpPr>
            <a:xfrm>
              <a:off x="-528216" y="3116173"/>
              <a:ext cx="3140396" cy="45661"/>
              <a:chOff x="1748550" y="1449263"/>
              <a:chExt cx="3899175" cy="56700"/>
            </a:xfrm>
          </p:grpSpPr>
          <p:cxnSp>
            <p:nvCxnSpPr>
              <p:cNvPr id="1220" name="Google Shape;1220;p60"/>
              <p:cNvCxnSpPr/>
              <p:nvPr/>
            </p:nvCxnSpPr>
            <p:spPr>
              <a:xfrm>
                <a:off x="1748550" y="1477625"/>
                <a:ext cx="3846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1" name="Google Shape;1221;p60"/>
              <p:cNvSpPr/>
              <p:nvPr/>
            </p:nvSpPr>
            <p:spPr>
              <a:xfrm>
                <a:off x="5591025" y="1449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22" name="Google Shape;1222;p60"/>
          <p:cNvGrpSpPr/>
          <p:nvPr/>
        </p:nvGrpSpPr>
        <p:grpSpPr>
          <a:xfrm flipH="1">
            <a:off x="6388625" y="448654"/>
            <a:ext cx="3094729" cy="1111283"/>
            <a:chOff x="1748550" y="1613039"/>
            <a:chExt cx="3842475" cy="1379962"/>
          </a:xfrm>
        </p:grpSpPr>
        <p:grpSp>
          <p:nvGrpSpPr>
            <p:cNvPr id="1223" name="Google Shape;1223;p60"/>
            <p:cNvGrpSpPr/>
            <p:nvPr/>
          </p:nvGrpSpPr>
          <p:grpSpPr>
            <a:xfrm>
              <a:off x="1754675" y="2577138"/>
              <a:ext cx="1945675" cy="56700"/>
              <a:chOff x="1754675" y="2661275"/>
              <a:chExt cx="1945675" cy="56700"/>
            </a:xfrm>
          </p:grpSpPr>
          <p:cxnSp>
            <p:nvCxnSpPr>
              <p:cNvPr id="1224" name="Google Shape;1224;p6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5" name="Google Shape;1225;p6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6" name="Google Shape;1226;p60"/>
            <p:cNvGrpSpPr/>
            <p:nvPr/>
          </p:nvGrpSpPr>
          <p:grpSpPr>
            <a:xfrm>
              <a:off x="1754616" y="2823901"/>
              <a:ext cx="1938597" cy="169100"/>
              <a:chOff x="1754675" y="2824000"/>
              <a:chExt cx="4728285" cy="412439"/>
            </a:xfrm>
          </p:grpSpPr>
          <p:sp>
            <p:nvSpPr>
              <p:cNvPr id="1227" name="Google Shape;1227;p6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rect b="b" l="l" r="r" t="t"/>
                <a:pathLst>
                  <a:path extrusionOk="0" h="5994" w="7755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28" name="Google Shape;1228;p6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9" name="Google Shape;1229;p60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1230" name="Google Shape;1230;p6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rect b="b" l="l" r="r" t="t"/>
                <a:pathLst>
                  <a:path extrusionOk="0" h="4037" w="150207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31" name="Google Shape;1231;p6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2" name="Google Shape;1232;p60"/>
            <p:cNvGrpSpPr/>
            <p:nvPr/>
          </p:nvGrpSpPr>
          <p:grpSpPr>
            <a:xfrm>
              <a:off x="1748550" y="1758700"/>
              <a:ext cx="3573375" cy="277863"/>
              <a:chOff x="1748550" y="2064750"/>
              <a:chExt cx="3573375" cy="277863"/>
            </a:xfrm>
          </p:grpSpPr>
          <p:sp>
            <p:nvSpPr>
              <p:cNvPr id="1233" name="Google Shape;1233;p6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rect b="b" l="l" r="r" t="t"/>
                <a:pathLst>
                  <a:path extrusionOk="0" h="10153" w="140667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34" name="Google Shape;1234;p6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60"/>
            <p:cNvGrpSpPr/>
            <p:nvPr/>
          </p:nvGrpSpPr>
          <p:grpSpPr>
            <a:xfrm>
              <a:off x="1748560" y="1613039"/>
              <a:ext cx="3018055" cy="230395"/>
              <a:chOff x="1748547" y="1392116"/>
              <a:chExt cx="5911958" cy="451312"/>
            </a:xfrm>
          </p:grpSpPr>
          <p:sp>
            <p:nvSpPr>
              <p:cNvPr id="1236" name="Google Shape;1236;p6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rect b="b" l="l" r="r" t="t"/>
                <a:pathLst>
                  <a:path extrusionOk="0" h="7583" w="111066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37" name="Google Shape;1237;p6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8" name="Google Shape;1238;p60"/>
            <p:cNvGrpSpPr/>
            <p:nvPr/>
          </p:nvGrpSpPr>
          <p:grpSpPr>
            <a:xfrm>
              <a:off x="1766900" y="2120038"/>
              <a:ext cx="3737650" cy="56700"/>
              <a:chOff x="1766900" y="2869225"/>
              <a:chExt cx="3737650" cy="56700"/>
            </a:xfrm>
          </p:grpSpPr>
          <p:cxnSp>
            <p:nvCxnSpPr>
              <p:cNvPr id="1239" name="Google Shape;1239;p6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0" name="Google Shape;1240;p6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61"/>
          <p:cNvSpPr txBox="1"/>
          <p:nvPr>
            <p:ph type="title"/>
          </p:nvPr>
        </p:nvSpPr>
        <p:spPr>
          <a:xfrm>
            <a:off x="1698750" y="1383075"/>
            <a:ext cx="5746500" cy="147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Is our model ready to be used in the real world?</a:t>
            </a:r>
            <a:endParaRPr sz="3000"/>
          </a:p>
        </p:txBody>
      </p:sp>
      <p:sp>
        <p:nvSpPr>
          <p:cNvPr id="1246" name="Google Shape;1246;p61"/>
          <p:cNvSpPr txBox="1"/>
          <p:nvPr>
            <p:ph idx="1" type="subTitle"/>
          </p:nvPr>
        </p:nvSpPr>
        <p:spPr>
          <a:xfrm>
            <a:off x="1660650" y="2502937"/>
            <a:ext cx="5822700" cy="143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almost</a:t>
            </a:r>
            <a:r>
              <a:rPr lang="en" sz="2700"/>
              <a:t>.. 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62"/>
          <p:cNvSpPr txBox="1"/>
          <p:nvPr>
            <p:ph idx="1" type="subTitle"/>
          </p:nvPr>
        </p:nvSpPr>
        <p:spPr>
          <a:xfrm>
            <a:off x="1754150" y="1687650"/>
            <a:ext cx="2694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features dominate unless filtered. Views vs applications also may vary by industry norms.</a:t>
            </a:r>
            <a:endParaRPr/>
          </a:p>
        </p:txBody>
      </p:sp>
      <p:sp>
        <p:nvSpPr>
          <p:cNvPr id="1252" name="Google Shape;1252;p62"/>
          <p:cNvSpPr txBox="1"/>
          <p:nvPr>
            <p:ph idx="2" type="subTitle"/>
          </p:nvPr>
        </p:nvSpPr>
        <p:spPr>
          <a:xfrm>
            <a:off x="5275963" y="1687650"/>
            <a:ext cx="2694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tuning hyperparameters more to maximize our metrics. Try other methods like other ensembling models (LightGBM, etc.)</a:t>
            </a:r>
            <a:endParaRPr/>
          </a:p>
        </p:txBody>
      </p:sp>
      <p:sp>
        <p:nvSpPr>
          <p:cNvPr id="1253" name="Google Shape;1253;p62"/>
          <p:cNvSpPr txBox="1"/>
          <p:nvPr>
            <p:ph idx="3" type="subTitle"/>
          </p:nvPr>
        </p:nvSpPr>
        <p:spPr>
          <a:xfrm>
            <a:off x="1754288" y="3272025"/>
            <a:ext cx="2694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model doesn’t consider the </a:t>
            </a:r>
            <a:r>
              <a:rPr lang="en"/>
              <a:t>time in the hiring cycle, if it’s a holiday, or the labor market conditions</a:t>
            </a:r>
            <a:endParaRPr/>
          </a:p>
        </p:txBody>
      </p:sp>
      <p:sp>
        <p:nvSpPr>
          <p:cNvPr id="1254" name="Google Shape;1254;p62"/>
          <p:cNvSpPr txBox="1"/>
          <p:nvPr>
            <p:ph idx="4" type="subTitle"/>
          </p:nvPr>
        </p:nvSpPr>
        <p:spPr>
          <a:xfrm>
            <a:off x="5276038" y="3272025"/>
            <a:ext cx="26943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Currently using TF-IDF, which treats each word independently. Cannot capture context, tone, structure. Use embedding models to capture these relationships.</a:t>
            </a:r>
            <a:endParaRPr/>
          </a:p>
        </p:txBody>
      </p:sp>
      <p:sp>
        <p:nvSpPr>
          <p:cNvPr id="1255" name="Google Shape;1255;p62"/>
          <p:cNvSpPr txBox="1"/>
          <p:nvPr>
            <p:ph idx="5" type="subTitle"/>
          </p:nvPr>
        </p:nvSpPr>
        <p:spPr>
          <a:xfrm>
            <a:off x="1689126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Limitations</a:t>
            </a:r>
            <a:endParaRPr/>
          </a:p>
        </p:txBody>
      </p:sp>
      <p:sp>
        <p:nvSpPr>
          <p:cNvPr id="1256" name="Google Shape;1256;p62"/>
          <p:cNvSpPr txBox="1"/>
          <p:nvPr>
            <p:ph idx="6" type="subTitle"/>
          </p:nvPr>
        </p:nvSpPr>
        <p:spPr>
          <a:xfrm>
            <a:off x="1689126" y="304000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Temporal Context</a:t>
            </a:r>
            <a:endParaRPr/>
          </a:p>
        </p:txBody>
      </p:sp>
      <p:sp>
        <p:nvSpPr>
          <p:cNvPr id="1257" name="Google Shape;1257;p62"/>
          <p:cNvSpPr txBox="1"/>
          <p:nvPr>
            <p:ph idx="7" type="subTitle"/>
          </p:nvPr>
        </p:nvSpPr>
        <p:spPr>
          <a:xfrm>
            <a:off x="5210851" y="1455550"/>
            <a:ext cx="28110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Fine-tune &amp; more</a:t>
            </a:r>
            <a:endParaRPr/>
          </a:p>
        </p:txBody>
      </p:sp>
      <p:sp>
        <p:nvSpPr>
          <p:cNvPr id="1258" name="Google Shape;1258;p62"/>
          <p:cNvSpPr txBox="1"/>
          <p:nvPr>
            <p:ph idx="8" type="subTitle"/>
          </p:nvPr>
        </p:nvSpPr>
        <p:spPr>
          <a:xfrm>
            <a:off x="5210850" y="3040000"/>
            <a:ext cx="3144300" cy="33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Embeddings</a:t>
            </a:r>
            <a:endParaRPr/>
          </a:p>
        </p:txBody>
      </p:sp>
      <p:sp>
        <p:nvSpPr>
          <p:cNvPr id="1259" name="Google Shape;1259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Limitations &amp; Improvements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60" name="Google Shape;1260;p62"/>
          <p:cNvSpPr/>
          <p:nvPr/>
        </p:nvSpPr>
        <p:spPr>
          <a:xfrm>
            <a:off x="1122122" y="1455550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62"/>
          <p:cNvSpPr/>
          <p:nvPr/>
        </p:nvSpPr>
        <p:spPr>
          <a:xfrm>
            <a:off x="4643847" y="1455550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62"/>
          <p:cNvSpPr/>
          <p:nvPr/>
        </p:nvSpPr>
        <p:spPr>
          <a:xfrm>
            <a:off x="1122122" y="3040000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62"/>
          <p:cNvSpPr/>
          <p:nvPr/>
        </p:nvSpPr>
        <p:spPr>
          <a:xfrm>
            <a:off x="4643847" y="3040000"/>
            <a:ext cx="567000" cy="56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4" name="Google Shape;1264;p62"/>
          <p:cNvGrpSpPr/>
          <p:nvPr/>
        </p:nvGrpSpPr>
        <p:grpSpPr>
          <a:xfrm>
            <a:off x="1236185" y="1593275"/>
            <a:ext cx="338875" cy="291550"/>
            <a:chOff x="4775850" y="2706275"/>
            <a:chExt cx="338875" cy="291550"/>
          </a:xfrm>
        </p:grpSpPr>
        <p:sp>
          <p:nvSpPr>
            <p:cNvPr id="1265" name="Google Shape;1265;p62"/>
            <p:cNvSpPr/>
            <p:nvPr/>
          </p:nvSpPr>
          <p:spPr>
            <a:xfrm>
              <a:off x="4775850" y="2706275"/>
              <a:ext cx="338875" cy="291550"/>
            </a:xfrm>
            <a:custGeom>
              <a:rect b="b" l="l" r="r" t="t"/>
              <a:pathLst>
                <a:path extrusionOk="0" h="11662" w="13555">
                  <a:moveTo>
                    <a:pt x="11964" y="1590"/>
                  </a:moveTo>
                  <a:lnTo>
                    <a:pt x="11964" y="7954"/>
                  </a:lnTo>
                  <a:lnTo>
                    <a:pt x="1590" y="7954"/>
                  </a:lnTo>
                  <a:lnTo>
                    <a:pt x="1590" y="1590"/>
                  </a:lnTo>
                  <a:close/>
                  <a:moveTo>
                    <a:pt x="12764" y="541"/>
                  </a:moveTo>
                  <a:cubicBezTo>
                    <a:pt x="12904" y="541"/>
                    <a:pt x="13030" y="651"/>
                    <a:pt x="13030" y="804"/>
                  </a:cubicBezTo>
                  <a:lnTo>
                    <a:pt x="13030" y="7954"/>
                  </a:lnTo>
                  <a:lnTo>
                    <a:pt x="12502" y="7954"/>
                  </a:lnTo>
                  <a:lnTo>
                    <a:pt x="12502" y="1328"/>
                  </a:lnTo>
                  <a:cubicBezTo>
                    <a:pt x="12502" y="1189"/>
                    <a:pt x="12379" y="1066"/>
                    <a:pt x="12226" y="1066"/>
                  </a:cubicBezTo>
                  <a:lnTo>
                    <a:pt x="1312" y="1066"/>
                  </a:lnTo>
                  <a:cubicBezTo>
                    <a:pt x="1175" y="1066"/>
                    <a:pt x="1049" y="1189"/>
                    <a:pt x="1049" y="1328"/>
                  </a:cubicBezTo>
                  <a:lnTo>
                    <a:pt x="1049" y="7954"/>
                  </a:lnTo>
                  <a:lnTo>
                    <a:pt x="525" y="7954"/>
                  </a:lnTo>
                  <a:lnTo>
                    <a:pt x="525" y="804"/>
                  </a:lnTo>
                  <a:cubicBezTo>
                    <a:pt x="525" y="651"/>
                    <a:pt x="648" y="541"/>
                    <a:pt x="787" y="541"/>
                  </a:cubicBezTo>
                  <a:close/>
                  <a:moveTo>
                    <a:pt x="13030" y="8478"/>
                  </a:moveTo>
                  <a:lnTo>
                    <a:pt x="13030" y="8741"/>
                  </a:lnTo>
                  <a:cubicBezTo>
                    <a:pt x="13030" y="8893"/>
                    <a:pt x="12904" y="9020"/>
                    <a:pt x="12764" y="9020"/>
                  </a:cubicBezTo>
                  <a:lnTo>
                    <a:pt x="787" y="9020"/>
                  </a:lnTo>
                  <a:cubicBezTo>
                    <a:pt x="648" y="9020"/>
                    <a:pt x="525" y="8893"/>
                    <a:pt x="525" y="8741"/>
                  </a:cubicBezTo>
                  <a:lnTo>
                    <a:pt x="525" y="8478"/>
                  </a:lnTo>
                  <a:close/>
                  <a:moveTo>
                    <a:pt x="7579" y="9544"/>
                  </a:moveTo>
                  <a:lnTo>
                    <a:pt x="8007" y="11134"/>
                  </a:lnTo>
                  <a:lnTo>
                    <a:pt x="5518" y="11134"/>
                  </a:lnTo>
                  <a:lnTo>
                    <a:pt x="5946" y="9544"/>
                  </a:lnTo>
                  <a:close/>
                  <a:moveTo>
                    <a:pt x="787" y="0"/>
                  </a:moveTo>
                  <a:cubicBezTo>
                    <a:pt x="346" y="0"/>
                    <a:pt x="0" y="359"/>
                    <a:pt x="0" y="804"/>
                  </a:cubicBezTo>
                  <a:lnTo>
                    <a:pt x="0" y="8741"/>
                  </a:lnTo>
                  <a:cubicBezTo>
                    <a:pt x="0" y="9186"/>
                    <a:pt x="346" y="9544"/>
                    <a:pt x="787" y="9544"/>
                  </a:cubicBezTo>
                  <a:lnTo>
                    <a:pt x="5408" y="9544"/>
                  </a:lnTo>
                  <a:lnTo>
                    <a:pt x="4980" y="11134"/>
                  </a:lnTo>
                  <a:lnTo>
                    <a:pt x="4648" y="11134"/>
                  </a:lnTo>
                  <a:cubicBezTo>
                    <a:pt x="4286" y="11147"/>
                    <a:pt x="4286" y="11645"/>
                    <a:pt x="4648" y="11662"/>
                  </a:cubicBezTo>
                  <a:lnTo>
                    <a:pt x="8880" y="11662"/>
                  </a:lnTo>
                  <a:cubicBezTo>
                    <a:pt x="9225" y="11645"/>
                    <a:pt x="9239" y="11147"/>
                    <a:pt x="8880" y="11134"/>
                  </a:cubicBezTo>
                  <a:lnTo>
                    <a:pt x="8562" y="11134"/>
                  </a:lnTo>
                  <a:lnTo>
                    <a:pt x="8133" y="9544"/>
                  </a:lnTo>
                  <a:lnTo>
                    <a:pt x="12764" y="9544"/>
                  </a:lnTo>
                  <a:cubicBezTo>
                    <a:pt x="13196" y="9544"/>
                    <a:pt x="13554" y="9186"/>
                    <a:pt x="13554" y="8741"/>
                  </a:cubicBezTo>
                  <a:lnTo>
                    <a:pt x="13554" y="804"/>
                  </a:lnTo>
                  <a:cubicBezTo>
                    <a:pt x="13554" y="359"/>
                    <a:pt x="13196" y="0"/>
                    <a:pt x="127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2"/>
            <p:cNvSpPr/>
            <p:nvPr/>
          </p:nvSpPr>
          <p:spPr>
            <a:xfrm>
              <a:off x="4901650" y="2759550"/>
              <a:ext cx="59200" cy="59450"/>
            </a:xfrm>
            <a:custGeom>
              <a:rect b="b" l="l" r="r" t="t"/>
              <a:pathLst>
                <a:path extrusionOk="0" h="2378" w="2368">
                  <a:moveTo>
                    <a:pt x="529" y="551"/>
                  </a:moveTo>
                  <a:cubicBezTo>
                    <a:pt x="1193" y="664"/>
                    <a:pt x="1704" y="1189"/>
                    <a:pt x="1813" y="1853"/>
                  </a:cubicBezTo>
                  <a:lnTo>
                    <a:pt x="529" y="1853"/>
                  </a:lnTo>
                  <a:lnTo>
                    <a:pt x="529" y="551"/>
                  </a:lnTo>
                  <a:close/>
                  <a:moveTo>
                    <a:pt x="263" y="0"/>
                  </a:moveTo>
                  <a:cubicBezTo>
                    <a:pt x="114" y="0"/>
                    <a:pt x="1" y="123"/>
                    <a:pt x="1" y="263"/>
                  </a:cubicBezTo>
                  <a:lnTo>
                    <a:pt x="1" y="2115"/>
                  </a:lnTo>
                  <a:cubicBezTo>
                    <a:pt x="1" y="2254"/>
                    <a:pt x="114" y="2377"/>
                    <a:pt x="263" y="2377"/>
                  </a:cubicBezTo>
                  <a:lnTo>
                    <a:pt x="2105" y="2377"/>
                  </a:lnTo>
                  <a:cubicBezTo>
                    <a:pt x="2255" y="2377"/>
                    <a:pt x="2368" y="2254"/>
                    <a:pt x="2368" y="2115"/>
                  </a:cubicBezTo>
                  <a:cubicBezTo>
                    <a:pt x="2368" y="953"/>
                    <a:pt x="1425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2"/>
            <p:cNvSpPr/>
            <p:nvPr/>
          </p:nvSpPr>
          <p:spPr>
            <a:xfrm>
              <a:off x="4811125" y="2786175"/>
              <a:ext cx="122750" cy="105425"/>
            </a:xfrm>
            <a:custGeom>
              <a:rect b="b" l="l" r="r" t="t"/>
              <a:pathLst>
                <a:path extrusionOk="0" h="4217" w="4910">
                  <a:moveTo>
                    <a:pt x="2530" y="552"/>
                  </a:moveTo>
                  <a:lnTo>
                    <a:pt x="2530" y="1963"/>
                  </a:lnTo>
                  <a:lnTo>
                    <a:pt x="1311" y="2670"/>
                  </a:lnTo>
                  <a:cubicBezTo>
                    <a:pt x="953" y="1757"/>
                    <a:pt x="1577" y="691"/>
                    <a:pt x="2530" y="552"/>
                  </a:cubicBezTo>
                  <a:close/>
                  <a:moveTo>
                    <a:pt x="4369" y="2378"/>
                  </a:moveTo>
                  <a:cubicBezTo>
                    <a:pt x="4299" y="2753"/>
                    <a:pt x="4093" y="3085"/>
                    <a:pt x="3818" y="3334"/>
                  </a:cubicBezTo>
                  <a:lnTo>
                    <a:pt x="3263" y="2378"/>
                  </a:lnTo>
                  <a:close/>
                  <a:moveTo>
                    <a:pt x="2709" y="2474"/>
                  </a:moveTo>
                  <a:lnTo>
                    <a:pt x="3346" y="3596"/>
                  </a:lnTo>
                  <a:cubicBezTo>
                    <a:pt x="3176" y="3666"/>
                    <a:pt x="2993" y="3699"/>
                    <a:pt x="2810" y="3699"/>
                  </a:cubicBezTo>
                  <a:cubicBezTo>
                    <a:pt x="2340" y="3699"/>
                    <a:pt x="1867" y="3483"/>
                    <a:pt x="1590" y="3125"/>
                  </a:cubicBezTo>
                  <a:lnTo>
                    <a:pt x="2709" y="2474"/>
                  </a:lnTo>
                  <a:close/>
                  <a:moveTo>
                    <a:pt x="2792" y="1"/>
                  </a:moveTo>
                  <a:cubicBezTo>
                    <a:pt x="0" y="97"/>
                    <a:pt x="0" y="4121"/>
                    <a:pt x="2792" y="4217"/>
                  </a:cubicBezTo>
                  <a:cubicBezTo>
                    <a:pt x="3954" y="4217"/>
                    <a:pt x="4910" y="3277"/>
                    <a:pt x="4910" y="2102"/>
                  </a:cubicBezTo>
                  <a:cubicBezTo>
                    <a:pt x="4910" y="1963"/>
                    <a:pt x="4784" y="1840"/>
                    <a:pt x="4648" y="1840"/>
                  </a:cubicBezTo>
                  <a:lnTo>
                    <a:pt x="3054" y="1840"/>
                  </a:lnTo>
                  <a:lnTo>
                    <a:pt x="3054" y="263"/>
                  </a:lnTo>
                  <a:cubicBezTo>
                    <a:pt x="3054" y="111"/>
                    <a:pt x="2945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2"/>
            <p:cNvSpPr/>
            <p:nvPr/>
          </p:nvSpPr>
          <p:spPr>
            <a:xfrm>
              <a:off x="4977750" y="2852175"/>
              <a:ext cx="84025" cy="39850"/>
            </a:xfrm>
            <a:custGeom>
              <a:rect b="b" l="l" r="r" t="t"/>
              <a:pathLst>
                <a:path extrusionOk="0" h="1594" w="3361">
                  <a:moveTo>
                    <a:pt x="2836" y="528"/>
                  </a:moveTo>
                  <a:lnTo>
                    <a:pt x="2836" y="1052"/>
                  </a:lnTo>
                  <a:lnTo>
                    <a:pt x="525" y="1052"/>
                  </a:lnTo>
                  <a:lnTo>
                    <a:pt x="525" y="528"/>
                  </a:lnTo>
                  <a:close/>
                  <a:moveTo>
                    <a:pt x="263" y="0"/>
                  </a:moveTo>
                  <a:cubicBezTo>
                    <a:pt x="110" y="0"/>
                    <a:pt x="1" y="113"/>
                    <a:pt x="1" y="266"/>
                  </a:cubicBezTo>
                  <a:lnTo>
                    <a:pt x="1" y="1328"/>
                  </a:lnTo>
                  <a:cubicBezTo>
                    <a:pt x="1" y="1467"/>
                    <a:pt x="110" y="1593"/>
                    <a:pt x="263" y="1593"/>
                  </a:cubicBezTo>
                  <a:lnTo>
                    <a:pt x="3098" y="1593"/>
                  </a:lnTo>
                  <a:cubicBezTo>
                    <a:pt x="3238" y="1593"/>
                    <a:pt x="3360" y="1467"/>
                    <a:pt x="3360" y="1328"/>
                  </a:cubicBezTo>
                  <a:lnTo>
                    <a:pt x="3360" y="266"/>
                  </a:lnTo>
                  <a:cubicBezTo>
                    <a:pt x="3360" y="113"/>
                    <a:pt x="3238" y="0"/>
                    <a:pt x="30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2"/>
            <p:cNvSpPr/>
            <p:nvPr/>
          </p:nvSpPr>
          <p:spPr>
            <a:xfrm>
              <a:off x="4975350" y="2821050"/>
              <a:ext cx="88175" cy="13225"/>
            </a:xfrm>
            <a:custGeom>
              <a:rect b="b" l="l" r="r" t="t"/>
              <a:pathLst>
                <a:path extrusionOk="0" h="529" w="3527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181" y="528"/>
                  </a:lnTo>
                  <a:cubicBezTo>
                    <a:pt x="3526" y="515"/>
                    <a:pt x="3526" y="17"/>
                    <a:pt x="3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2"/>
            <p:cNvSpPr/>
            <p:nvPr/>
          </p:nvSpPr>
          <p:spPr>
            <a:xfrm>
              <a:off x="4975350" y="2790675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181" y="525"/>
                  </a:lnTo>
                  <a:cubicBezTo>
                    <a:pt x="3526" y="511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2"/>
            <p:cNvSpPr/>
            <p:nvPr/>
          </p:nvSpPr>
          <p:spPr>
            <a:xfrm>
              <a:off x="4975350" y="2759550"/>
              <a:ext cx="88175" cy="13125"/>
            </a:xfrm>
            <a:custGeom>
              <a:rect b="b" l="l" r="r" t="t"/>
              <a:pathLst>
                <a:path extrusionOk="0" h="525" w="3527">
                  <a:moveTo>
                    <a:pt x="346" y="0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3181" y="525"/>
                  </a:lnTo>
                  <a:cubicBezTo>
                    <a:pt x="3526" y="512"/>
                    <a:pt x="3526" y="14"/>
                    <a:pt x="3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2" name="Google Shape;1272;p62"/>
          <p:cNvSpPr/>
          <p:nvPr/>
        </p:nvSpPr>
        <p:spPr>
          <a:xfrm>
            <a:off x="4797772" y="1569600"/>
            <a:ext cx="301950" cy="338875"/>
          </a:xfrm>
          <a:custGeom>
            <a:rect b="b" l="l" r="r" t="t"/>
            <a:pathLst>
              <a:path extrusionOk="0" h="13555" w="12078">
                <a:moveTo>
                  <a:pt x="7679" y="525"/>
                </a:moveTo>
                <a:cubicBezTo>
                  <a:pt x="7815" y="525"/>
                  <a:pt x="7941" y="651"/>
                  <a:pt x="7941" y="787"/>
                </a:cubicBezTo>
                <a:lnTo>
                  <a:pt x="7941" y="1050"/>
                </a:lnTo>
                <a:lnTo>
                  <a:pt x="5823" y="1050"/>
                </a:lnTo>
                <a:cubicBezTo>
                  <a:pt x="5671" y="1050"/>
                  <a:pt x="5561" y="1176"/>
                  <a:pt x="5561" y="1328"/>
                </a:cubicBezTo>
                <a:cubicBezTo>
                  <a:pt x="5561" y="1465"/>
                  <a:pt x="5438" y="1591"/>
                  <a:pt x="5299" y="1591"/>
                </a:cubicBezTo>
                <a:lnTo>
                  <a:pt x="3168" y="1591"/>
                </a:lnTo>
                <a:cubicBezTo>
                  <a:pt x="3032" y="1591"/>
                  <a:pt x="2906" y="1465"/>
                  <a:pt x="2906" y="1315"/>
                </a:cubicBezTo>
                <a:cubicBezTo>
                  <a:pt x="2906" y="1176"/>
                  <a:pt x="2796" y="1050"/>
                  <a:pt x="2643" y="1050"/>
                </a:cubicBezTo>
                <a:lnTo>
                  <a:pt x="525" y="1050"/>
                </a:lnTo>
                <a:lnTo>
                  <a:pt x="525" y="787"/>
                </a:lnTo>
                <a:cubicBezTo>
                  <a:pt x="525" y="651"/>
                  <a:pt x="638" y="525"/>
                  <a:pt x="791" y="525"/>
                </a:cubicBezTo>
                <a:close/>
                <a:moveTo>
                  <a:pt x="8204" y="5063"/>
                </a:moveTo>
                <a:cubicBezTo>
                  <a:pt x="8426" y="5063"/>
                  <a:pt x="8605" y="5229"/>
                  <a:pt x="8605" y="5448"/>
                </a:cubicBezTo>
                <a:cubicBezTo>
                  <a:pt x="8605" y="5671"/>
                  <a:pt x="8426" y="5850"/>
                  <a:pt x="8204" y="5850"/>
                </a:cubicBezTo>
                <a:cubicBezTo>
                  <a:pt x="7679" y="5836"/>
                  <a:pt x="7679" y="5076"/>
                  <a:pt x="8204" y="5063"/>
                </a:cubicBezTo>
                <a:close/>
                <a:moveTo>
                  <a:pt x="2906" y="6112"/>
                </a:moveTo>
                <a:cubicBezTo>
                  <a:pt x="3128" y="6112"/>
                  <a:pt x="3307" y="6295"/>
                  <a:pt x="3307" y="6514"/>
                </a:cubicBezTo>
                <a:cubicBezTo>
                  <a:pt x="3294" y="6778"/>
                  <a:pt x="3101" y="6910"/>
                  <a:pt x="2907" y="6910"/>
                </a:cubicBezTo>
                <a:cubicBezTo>
                  <a:pt x="2713" y="6910"/>
                  <a:pt x="2519" y="6778"/>
                  <a:pt x="2504" y="6514"/>
                </a:cubicBezTo>
                <a:cubicBezTo>
                  <a:pt x="2504" y="6295"/>
                  <a:pt x="2683" y="6112"/>
                  <a:pt x="2906" y="6112"/>
                </a:cubicBezTo>
                <a:close/>
                <a:moveTo>
                  <a:pt x="5299" y="3443"/>
                </a:moveTo>
                <a:lnTo>
                  <a:pt x="5299" y="7221"/>
                </a:lnTo>
                <a:cubicBezTo>
                  <a:pt x="5160" y="7261"/>
                  <a:pt x="5037" y="7330"/>
                  <a:pt x="4940" y="7413"/>
                </a:cubicBezTo>
                <a:lnTo>
                  <a:pt x="3805" y="6749"/>
                </a:lnTo>
                <a:cubicBezTo>
                  <a:pt x="3945" y="6265"/>
                  <a:pt x="3639" y="5753"/>
                  <a:pt x="3168" y="5631"/>
                </a:cubicBezTo>
                <a:lnTo>
                  <a:pt x="3168" y="3443"/>
                </a:lnTo>
                <a:close/>
                <a:moveTo>
                  <a:pt x="5555" y="7710"/>
                </a:moveTo>
                <a:cubicBezTo>
                  <a:pt x="5749" y="7710"/>
                  <a:pt x="5943" y="7842"/>
                  <a:pt x="5950" y="8104"/>
                </a:cubicBezTo>
                <a:cubicBezTo>
                  <a:pt x="5950" y="8326"/>
                  <a:pt x="5784" y="8505"/>
                  <a:pt x="5561" y="8505"/>
                </a:cubicBezTo>
                <a:cubicBezTo>
                  <a:pt x="5339" y="8505"/>
                  <a:pt x="5160" y="8326"/>
                  <a:pt x="5160" y="8104"/>
                </a:cubicBezTo>
                <a:cubicBezTo>
                  <a:pt x="5166" y="7842"/>
                  <a:pt x="5360" y="7710"/>
                  <a:pt x="5555" y="7710"/>
                </a:cubicBezTo>
                <a:close/>
                <a:moveTo>
                  <a:pt x="10851" y="7710"/>
                </a:moveTo>
                <a:cubicBezTo>
                  <a:pt x="11045" y="7710"/>
                  <a:pt x="11239" y="7842"/>
                  <a:pt x="11248" y="8104"/>
                </a:cubicBezTo>
                <a:cubicBezTo>
                  <a:pt x="11248" y="8326"/>
                  <a:pt x="11082" y="8505"/>
                  <a:pt x="10859" y="8505"/>
                </a:cubicBezTo>
                <a:cubicBezTo>
                  <a:pt x="10637" y="8505"/>
                  <a:pt x="10458" y="8326"/>
                  <a:pt x="10458" y="8104"/>
                </a:cubicBezTo>
                <a:cubicBezTo>
                  <a:pt x="10464" y="7842"/>
                  <a:pt x="10658" y="7710"/>
                  <a:pt x="10851" y="7710"/>
                </a:cubicBezTo>
                <a:close/>
                <a:moveTo>
                  <a:pt x="3530" y="7191"/>
                </a:moveTo>
                <a:lnTo>
                  <a:pt x="4662" y="7871"/>
                </a:lnTo>
                <a:cubicBezTo>
                  <a:pt x="4525" y="8353"/>
                  <a:pt x="4828" y="8867"/>
                  <a:pt x="5299" y="8990"/>
                </a:cubicBezTo>
                <a:lnTo>
                  <a:pt x="5299" y="10650"/>
                </a:lnTo>
                <a:lnTo>
                  <a:pt x="3168" y="10650"/>
                </a:lnTo>
                <a:lnTo>
                  <a:pt x="3168" y="7400"/>
                </a:lnTo>
                <a:cubicBezTo>
                  <a:pt x="3307" y="7357"/>
                  <a:pt x="3430" y="7290"/>
                  <a:pt x="3530" y="7191"/>
                </a:cubicBezTo>
                <a:close/>
                <a:moveTo>
                  <a:pt x="7941" y="1591"/>
                </a:moveTo>
                <a:lnTo>
                  <a:pt x="7941" y="4565"/>
                </a:lnTo>
                <a:cubicBezTo>
                  <a:pt x="7400" y="4718"/>
                  <a:pt x="7111" y="5395"/>
                  <a:pt x="7387" y="5893"/>
                </a:cubicBezTo>
                <a:lnTo>
                  <a:pt x="6003" y="7290"/>
                </a:lnTo>
                <a:cubicBezTo>
                  <a:pt x="5950" y="7261"/>
                  <a:pt x="5880" y="7234"/>
                  <a:pt x="5823" y="7221"/>
                </a:cubicBezTo>
                <a:lnTo>
                  <a:pt x="5823" y="3181"/>
                </a:lnTo>
                <a:cubicBezTo>
                  <a:pt x="5823" y="3028"/>
                  <a:pt x="5701" y="2905"/>
                  <a:pt x="5561" y="2905"/>
                </a:cubicBezTo>
                <a:lnTo>
                  <a:pt x="2906" y="2905"/>
                </a:lnTo>
                <a:cubicBezTo>
                  <a:pt x="2766" y="2905"/>
                  <a:pt x="2643" y="3028"/>
                  <a:pt x="2643" y="3181"/>
                </a:cubicBezTo>
                <a:lnTo>
                  <a:pt x="2643" y="5631"/>
                </a:lnTo>
                <a:cubicBezTo>
                  <a:pt x="1770" y="5893"/>
                  <a:pt x="1770" y="7138"/>
                  <a:pt x="2643" y="7400"/>
                </a:cubicBezTo>
                <a:lnTo>
                  <a:pt x="2643" y="10650"/>
                </a:lnTo>
                <a:lnTo>
                  <a:pt x="1853" y="10650"/>
                </a:lnTo>
                <a:cubicBezTo>
                  <a:pt x="1730" y="10650"/>
                  <a:pt x="1604" y="10733"/>
                  <a:pt x="1591" y="10872"/>
                </a:cubicBezTo>
                <a:cubicBezTo>
                  <a:pt x="1564" y="11038"/>
                  <a:pt x="1687" y="11174"/>
                  <a:pt x="1853" y="11174"/>
                </a:cubicBezTo>
                <a:lnTo>
                  <a:pt x="6614" y="11174"/>
                </a:lnTo>
                <a:cubicBezTo>
                  <a:pt x="6736" y="11174"/>
                  <a:pt x="6862" y="11078"/>
                  <a:pt x="6876" y="10955"/>
                </a:cubicBezTo>
                <a:cubicBezTo>
                  <a:pt x="6902" y="10789"/>
                  <a:pt x="6779" y="10650"/>
                  <a:pt x="6614" y="10650"/>
                </a:cubicBezTo>
                <a:lnTo>
                  <a:pt x="5823" y="10650"/>
                </a:lnTo>
                <a:lnTo>
                  <a:pt x="5823" y="8990"/>
                </a:lnTo>
                <a:cubicBezTo>
                  <a:pt x="6365" y="8837"/>
                  <a:pt x="6653" y="8160"/>
                  <a:pt x="6378" y="7662"/>
                </a:cubicBezTo>
                <a:lnTo>
                  <a:pt x="7762" y="6265"/>
                </a:lnTo>
                <a:cubicBezTo>
                  <a:pt x="7815" y="6295"/>
                  <a:pt x="7885" y="6321"/>
                  <a:pt x="7941" y="6348"/>
                </a:cubicBezTo>
                <a:lnTo>
                  <a:pt x="7941" y="11964"/>
                </a:lnTo>
                <a:lnTo>
                  <a:pt x="525" y="11964"/>
                </a:lnTo>
                <a:lnTo>
                  <a:pt x="525" y="1591"/>
                </a:lnTo>
                <a:lnTo>
                  <a:pt x="2421" y="1591"/>
                </a:lnTo>
                <a:cubicBezTo>
                  <a:pt x="2534" y="1896"/>
                  <a:pt x="2823" y="2115"/>
                  <a:pt x="3168" y="2115"/>
                </a:cubicBezTo>
                <a:lnTo>
                  <a:pt x="5299" y="2115"/>
                </a:lnTo>
                <a:cubicBezTo>
                  <a:pt x="5644" y="2115"/>
                  <a:pt x="5936" y="1896"/>
                  <a:pt x="6046" y="1591"/>
                </a:cubicBezTo>
                <a:close/>
                <a:moveTo>
                  <a:pt x="7941" y="12502"/>
                </a:moveTo>
                <a:lnTo>
                  <a:pt x="7941" y="12768"/>
                </a:lnTo>
                <a:cubicBezTo>
                  <a:pt x="7941" y="12904"/>
                  <a:pt x="7815" y="13030"/>
                  <a:pt x="7679" y="13030"/>
                </a:cubicBezTo>
                <a:lnTo>
                  <a:pt x="791" y="13030"/>
                </a:lnTo>
                <a:cubicBezTo>
                  <a:pt x="638" y="13030"/>
                  <a:pt x="525" y="12904"/>
                  <a:pt x="525" y="12768"/>
                </a:cubicBezTo>
                <a:lnTo>
                  <a:pt x="525" y="12502"/>
                </a:lnTo>
                <a:close/>
                <a:moveTo>
                  <a:pt x="791" y="1"/>
                </a:moveTo>
                <a:cubicBezTo>
                  <a:pt x="346" y="1"/>
                  <a:pt x="1" y="359"/>
                  <a:pt x="1" y="787"/>
                </a:cubicBezTo>
                <a:lnTo>
                  <a:pt x="1" y="12768"/>
                </a:lnTo>
                <a:cubicBezTo>
                  <a:pt x="1" y="13209"/>
                  <a:pt x="346" y="13555"/>
                  <a:pt x="791" y="13555"/>
                </a:cubicBezTo>
                <a:lnTo>
                  <a:pt x="7679" y="13555"/>
                </a:lnTo>
                <a:cubicBezTo>
                  <a:pt x="8121" y="13555"/>
                  <a:pt x="8466" y="13209"/>
                  <a:pt x="8466" y="12768"/>
                </a:cubicBezTo>
                <a:lnTo>
                  <a:pt x="8466" y="6348"/>
                </a:lnTo>
                <a:cubicBezTo>
                  <a:pt x="8536" y="6321"/>
                  <a:pt x="8592" y="6295"/>
                  <a:pt x="8645" y="6265"/>
                </a:cubicBezTo>
                <a:lnTo>
                  <a:pt x="10043" y="7662"/>
                </a:lnTo>
                <a:cubicBezTo>
                  <a:pt x="9700" y="8252"/>
                  <a:pt x="10161" y="9033"/>
                  <a:pt x="10842" y="9033"/>
                </a:cubicBezTo>
                <a:cubicBezTo>
                  <a:pt x="10848" y="9033"/>
                  <a:pt x="10854" y="9033"/>
                  <a:pt x="10859" y="9033"/>
                </a:cubicBezTo>
                <a:cubicBezTo>
                  <a:pt x="12078" y="8977"/>
                  <a:pt x="12078" y="7221"/>
                  <a:pt x="10859" y="7178"/>
                </a:cubicBezTo>
                <a:cubicBezTo>
                  <a:pt x="10693" y="7178"/>
                  <a:pt x="10541" y="7221"/>
                  <a:pt x="10418" y="7290"/>
                </a:cubicBezTo>
                <a:lnTo>
                  <a:pt x="9020" y="5893"/>
                </a:lnTo>
                <a:cubicBezTo>
                  <a:pt x="9309" y="5395"/>
                  <a:pt x="9020" y="4718"/>
                  <a:pt x="8466" y="4565"/>
                </a:cubicBezTo>
                <a:lnTo>
                  <a:pt x="8466" y="787"/>
                </a:lnTo>
                <a:cubicBezTo>
                  <a:pt x="8466" y="359"/>
                  <a:pt x="8121" y="1"/>
                  <a:pt x="767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273" name="Google Shape;1273;p62"/>
          <p:cNvGrpSpPr/>
          <p:nvPr/>
        </p:nvGrpSpPr>
        <p:grpSpPr>
          <a:xfrm>
            <a:off x="4754985" y="3153850"/>
            <a:ext cx="344750" cy="339275"/>
            <a:chOff x="4775850" y="1573475"/>
            <a:chExt cx="344750" cy="339275"/>
          </a:xfrm>
        </p:grpSpPr>
        <p:sp>
          <p:nvSpPr>
            <p:cNvPr id="1274" name="Google Shape;1274;p62"/>
            <p:cNvSpPr/>
            <p:nvPr/>
          </p:nvSpPr>
          <p:spPr>
            <a:xfrm>
              <a:off x="4775850" y="1573475"/>
              <a:ext cx="344750" cy="339275"/>
            </a:xfrm>
            <a:custGeom>
              <a:rect b="b" l="l" r="r" t="t"/>
              <a:pathLst>
                <a:path extrusionOk="0" h="13571" w="13790">
                  <a:moveTo>
                    <a:pt x="8714" y="843"/>
                  </a:moveTo>
                  <a:lnTo>
                    <a:pt x="10069" y="2201"/>
                  </a:lnTo>
                  <a:lnTo>
                    <a:pt x="8714" y="2201"/>
                  </a:lnTo>
                  <a:lnTo>
                    <a:pt x="8714" y="843"/>
                  </a:lnTo>
                  <a:close/>
                  <a:moveTo>
                    <a:pt x="11174" y="5587"/>
                  </a:moveTo>
                  <a:lnTo>
                    <a:pt x="11174" y="6971"/>
                  </a:lnTo>
                  <a:cubicBezTo>
                    <a:pt x="11174" y="7028"/>
                    <a:pt x="11187" y="7067"/>
                    <a:pt x="11217" y="7111"/>
                  </a:cubicBezTo>
                  <a:lnTo>
                    <a:pt x="11383" y="7373"/>
                  </a:lnTo>
                  <a:lnTo>
                    <a:pt x="9903" y="7373"/>
                  </a:lnTo>
                  <a:lnTo>
                    <a:pt x="10069" y="7111"/>
                  </a:lnTo>
                  <a:cubicBezTo>
                    <a:pt x="10095" y="7067"/>
                    <a:pt x="10108" y="7028"/>
                    <a:pt x="10108" y="6971"/>
                  </a:cubicBezTo>
                  <a:lnTo>
                    <a:pt x="10108" y="5587"/>
                  </a:lnTo>
                  <a:close/>
                  <a:moveTo>
                    <a:pt x="11715" y="7897"/>
                  </a:moveTo>
                  <a:cubicBezTo>
                    <a:pt x="11715" y="7911"/>
                    <a:pt x="12960" y="9862"/>
                    <a:pt x="12960" y="9862"/>
                  </a:cubicBezTo>
                  <a:cubicBezTo>
                    <a:pt x="13056" y="10002"/>
                    <a:pt x="13013" y="10125"/>
                    <a:pt x="12987" y="10181"/>
                  </a:cubicBezTo>
                  <a:cubicBezTo>
                    <a:pt x="12930" y="10277"/>
                    <a:pt x="12834" y="10334"/>
                    <a:pt x="12724" y="10334"/>
                  </a:cubicBezTo>
                  <a:lnTo>
                    <a:pt x="8562" y="10334"/>
                  </a:lnTo>
                  <a:cubicBezTo>
                    <a:pt x="8396" y="10334"/>
                    <a:pt x="8326" y="10221"/>
                    <a:pt x="8299" y="10168"/>
                  </a:cubicBezTo>
                  <a:cubicBezTo>
                    <a:pt x="8243" y="10055"/>
                    <a:pt x="8256" y="9945"/>
                    <a:pt x="8326" y="9849"/>
                  </a:cubicBezTo>
                  <a:cubicBezTo>
                    <a:pt x="8352" y="9806"/>
                    <a:pt x="9557" y="7940"/>
                    <a:pt x="9571" y="7897"/>
                  </a:cubicBezTo>
                  <a:close/>
                  <a:moveTo>
                    <a:pt x="8173" y="541"/>
                  </a:moveTo>
                  <a:lnTo>
                    <a:pt x="8173" y="2476"/>
                  </a:lnTo>
                  <a:cubicBezTo>
                    <a:pt x="8173" y="2616"/>
                    <a:pt x="8299" y="2739"/>
                    <a:pt x="8449" y="2739"/>
                  </a:cubicBezTo>
                  <a:lnTo>
                    <a:pt x="10374" y="2739"/>
                  </a:lnTo>
                  <a:lnTo>
                    <a:pt x="10374" y="5062"/>
                  </a:lnTo>
                  <a:lnTo>
                    <a:pt x="9584" y="5062"/>
                  </a:lnTo>
                  <a:cubicBezTo>
                    <a:pt x="9239" y="5076"/>
                    <a:pt x="9239" y="5574"/>
                    <a:pt x="9584" y="5587"/>
                  </a:cubicBezTo>
                  <a:lnTo>
                    <a:pt x="9584" y="6888"/>
                  </a:lnTo>
                  <a:lnTo>
                    <a:pt x="7898" y="9531"/>
                  </a:lnTo>
                  <a:cubicBezTo>
                    <a:pt x="7483" y="10055"/>
                    <a:pt x="7884" y="10872"/>
                    <a:pt x="8562" y="10872"/>
                  </a:cubicBezTo>
                  <a:lnTo>
                    <a:pt x="10374" y="10872"/>
                  </a:lnTo>
                  <a:lnTo>
                    <a:pt x="10374" y="11662"/>
                  </a:lnTo>
                  <a:lnTo>
                    <a:pt x="1909" y="11662"/>
                  </a:lnTo>
                  <a:lnTo>
                    <a:pt x="1909" y="541"/>
                  </a:lnTo>
                  <a:close/>
                  <a:moveTo>
                    <a:pt x="1368" y="1909"/>
                  </a:moveTo>
                  <a:lnTo>
                    <a:pt x="1368" y="11924"/>
                  </a:lnTo>
                  <a:cubicBezTo>
                    <a:pt x="1368" y="12077"/>
                    <a:pt x="1494" y="12186"/>
                    <a:pt x="1630" y="12186"/>
                  </a:cubicBezTo>
                  <a:lnTo>
                    <a:pt x="9003" y="12186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30" y="0"/>
                  </a:moveTo>
                  <a:cubicBezTo>
                    <a:pt x="1494" y="0"/>
                    <a:pt x="1368" y="126"/>
                    <a:pt x="1368" y="276"/>
                  </a:cubicBezTo>
                  <a:lnTo>
                    <a:pt x="1368" y="1384"/>
                  </a:lnTo>
                  <a:lnTo>
                    <a:pt x="263" y="1384"/>
                  </a:lnTo>
                  <a:cubicBezTo>
                    <a:pt x="110" y="1384"/>
                    <a:pt x="0" y="1507"/>
                    <a:pt x="0" y="1647"/>
                  </a:cubicBezTo>
                  <a:lnTo>
                    <a:pt x="0" y="13305"/>
                  </a:lnTo>
                  <a:cubicBezTo>
                    <a:pt x="0" y="13444"/>
                    <a:pt x="110" y="13570"/>
                    <a:pt x="263" y="13570"/>
                  </a:cubicBezTo>
                  <a:lnTo>
                    <a:pt x="9265" y="13570"/>
                  </a:lnTo>
                  <a:cubicBezTo>
                    <a:pt x="9405" y="13570"/>
                    <a:pt x="9528" y="13444"/>
                    <a:pt x="9528" y="13305"/>
                  </a:cubicBezTo>
                  <a:lnTo>
                    <a:pt x="9528" y="12186"/>
                  </a:lnTo>
                  <a:lnTo>
                    <a:pt x="10650" y="12186"/>
                  </a:lnTo>
                  <a:cubicBezTo>
                    <a:pt x="10789" y="12186"/>
                    <a:pt x="10912" y="12077"/>
                    <a:pt x="10912" y="11924"/>
                  </a:cubicBezTo>
                  <a:lnTo>
                    <a:pt x="10912" y="10872"/>
                  </a:lnTo>
                  <a:lnTo>
                    <a:pt x="12724" y="10872"/>
                  </a:lnTo>
                  <a:cubicBezTo>
                    <a:pt x="13388" y="10872"/>
                    <a:pt x="13790" y="10098"/>
                    <a:pt x="13402" y="9570"/>
                  </a:cubicBezTo>
                  <a:lnTo>
                    <a:pt x="11702" y="6888"/>
                  </a:lnTo>
                  <a:lnTo>
                    <a:pt x="11702" y="5603"/>
                  </a:lnTo>
                  <a:cubicBezTo>
                    <a:pt x="12047" y="5587"/>
                    <a:pt x="12047" y="5076"/>
                    <a:pt x="11702" y="5062"/>
                  </a:cubicBezTo>
                  <a:lnTo>
                    <a:pt x="10912" y="5062"/>
                  </a:lnTo>
                  <a:lnTo>
                    <a:pt x="10912" y="2393"/>
                  </a:lnTo>
                  <a:cubicBezTo>
                    <a:pt x="10912" y="2324"/>
                    <a:pt x="10885" y="2254"/>
                    <a:pt x="10829" y="2201"/>
                  </a:cubicBezTo>
                  <a:lnTo>
                    <a:pt x="8714" y="83"/>
                  </a:lnTo>
                  <a:cubicBezTo>
                    <a:pt x="8658" y="27"/>
                    <a:pt x="8588" y="0"/>
                    <a:pt x="8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2"/>
            <p:cNvSpPr/>
            <p:nvPr/>
          </p:nvSpPr>
          <p:spPr>
            <a:xfrm>
              <a:off x="4844325" y="1667950"/>
              <a:ext cx="136525" cy="177500"/>
            </a:xfrm>
            <a:custGeom>
              <a:rect b="b" l="l" r="r" t="t"/>
              <a:pathLst>
                <a:path extrusionOk="0" h="7100" w="5461">
                  <a:moveTo>
                    <a:pt x="4652" y="524"/>
                  </a:moveTo>
                  <a:cubicBezTo>
                    <a:pt x="4795" y="524"/>
                    <a:pt x="4936" y="638"/>
                    <a:pt x="4936" y="799"/>
                  </a:cubicBezTo>
                  <a:cubicBezTo>
                    <a:pt x="4936" y="951"/>
                    <a:pt x="4813" y="1078"/>
                    <a:pt x="4661" y="1078"/>
                  </a:cubicBezTo>
                  <a:cubicBezTo>
                    <a:pt x="4425" y="1078"/>
                    <a:pt x="4286" y="772"/>
                    <a:pt x="4465" y="606"/>
                  </a:cubicBezTo>
                  <a:cubicBezTo>
                    <a:pt x="4518" y="549"/>
                    <a:pt x="4585" y="524"/>
                    <a:pt x="4652" y="524"/>
                  </a:cubicBezTo>
                  <a:close/>
                  <a:moveTo>
                    <a:pt x="977" y="2969"/>
                  </a:moveTo>
                  <a:cubicBezTo>
                    <a:pt x="983" y="2969"/>
                    <a:pt x="990" y="2969"/>
                    <a:pt x="996" y="2970"/>
                  </a:cubicBezTo>
                  <a:cubicBezTo>
                    <a:pt x="1001" y="2969"/>
                    <a:pt x="1006" y="2969"/>
                    <a:pt x="1012" y="2969"/>
                  </a:cubicBezTo>
                  <a:cubicBezTo>
                    <a:pt x="1250" y="2969"/>
                    <a:pt x="1364" y="3265"/>
                    <a:pt x="1188" y="3428"/>
                  </a:cubicBezTo>
                  <a:cubicBezTo>
                    <a:pt x="1134" y="3487"/>
                    <a:pt x="1065" y="3513"/>
                    <a:pt x="996" y="3513"/>
                  </a:cubicBezTo>
                  <a:cubicBezTo>
                    <a:pt x="856" y="3513"/>
                    <a:pt x="721" y="3403"/>
                    <a:pt x="730" y="3235"/>
                  </a:cubicBezTo>
                  <a:cubicBezTo>
                    <a:pt x="718" y="3102"/>
                    <a:pt x="844" y="2969"/>
                    <a:pt x="977" y="2969"/>
                  </a:cubicBezTo>
                  <a:close/>
                  <a:moveTo>
                    <a:pt x="4030" y="2969"/>
                  </a:moveTo>
                  <a:cubicBezTo>
                    <a:pt x="4037" y="2969"/>
                    <a:pt x="4043" y="2969"/>
                    <a:pt x="4050" y="2970"/>
                  </a:cubicBezTo>
                  <a:cubicBezTo>
                    <a:pt x="4055" y="2969"/>
                    <a:pt x="4060" y="2969"/>
                    <a:pt x="4065" y="2969"/>
                  </a:cubicBezTo>
                  <a:cubicBezTo>
                    <a:pt x="4291" y="2969"/>
                    <a:pt x="4408" y="3265"/>
                    <a:pt x="4246" y="3428"/>
                  </a:cubicBezTo>
                  <a:cubicBezTo>
                    <a:pt x="4191" y="3487"/>
                    <a:pt x="4122" y="3513"/>
                    <a:pt x="4053" y="3513"/>
                  </a:cubicBezTo>
                  <a:cubicBezTo>
                    <a:pt x="3912" y="3513"/>
                    <a:pt x="3774" y="3403"/>
                    <a:pt x="3774" y="3235"/>
                  </a:cubicBezTo>
                  <a:cubicBezTo>
                    <a:pt x="3774" y="3102"/>
                    <a:pt x="3890" y="2969"/>
                    <a:pt x="4030" y="2969"/>
                  </a:cubicBezTo>
                  <a:close/>
                  <a:moveTo>
                    <a:pt x="996" y="6014"/>
                  </a:moveTo>
                  <a:cubicBezTo>
                    <a:pt x="1245" y="6014"/>
                    <a:pt x="1368" y="6319"/>
                    <a:pt x="1188" y="6485"/>
                  </a:cubicBezTo>
                  <a:cubicBezTo>
                    <a:pt x="1140" y="6540"/>
                    <a:pt x="1071" y="6567"/>
                    <a:pt x="1000" y="6567"/>
                  </a:cubicBezTo>
                  <a:cubicBezTo>
                    <a:pt x="929" y="6567"/>
                    <a:pt x="856" y="6540"/>
                    <a:pt x="800" y="6485"/>
                  </a:cubicBezTo>
                  <a:cubicBezTo>
                    <a:pt x="634" y="6319"/>
                    <a:pt x="760" y="6014"/>
                    <a:pt x="996" y="6014"/>
                  </a:cubicBezTo>
                  <a:close/>
                  <a:moveTo>
                    <a:pt x="4641" y="0"/>
                  </a:moveTo>
                  <a:cubicBezTo>
                    <a:pt x="4444" y="0"/>
                    <a:pt x="4244" y="71"/>
                    <a:pt x="4080" y="231"/>
                  </a:cubicBezTo>
                  <a:cubicBezTo>
                    <a:pt x="3718" y="580"/>
                    <a:pt x="3788" y="1214"/>
                    <a:pt x="4203" y="1476"/>
                  </a:cubicBezTo>
                  <a:lnTo>
                    <a:pt x="3967" y="2445"/>
                  </a:lnTo>
                  <a:cubicBezTo>
                    <a:pt x="3665" y="2472"/>
                    <a:pt x="3373" y="2694"/>
                    <a:pt x="3276" y="2986"/>
                  </a:cubicBezTo>
                  <a:lnTo>
                    <a:pt x="1756" y="2986"/>
                  </a:lnTo>
                  <a:cubicBezTo>
                    <a:pt x="1635" y="2643"/>
                    <a:pt x="1308" y="2443"/>
                    <a:pt x="981" y="2443"/>
                  </a:cubicBezTo>
                  <a:cubicBezTo>
                    <a:pt x="781" y="2443"/>
                    <a:pt x="581" y="2518"/>
                    <a:pt x="428" y="2681"/>
                  </a:cubicBezTo>
                  <a:cubicBezTo>
                    <a:pt x="0" y="3083"/>
                    <a:pt x="166" y="3816"/>
                    <a:pt x="730" y="4009"/>
                  </a:cubicBezTo>
                  <a:lnTo>
                    <a:pt x="730" y="5542"/>
                  </a:lnTo>
                  <a:cubicBezTo>
                    <a:pt x="166" y="5725"/>
                    <a:pt x="0" y="6455"/>
                    <a:pt x="428" y="6870"/>
                  </a:cubicBezTo>
                  <a:cubicBezTo>
                    <a:pt x="579" y="7023"/>
                    <a:pt x="783" y="7099"/>
                    <a:pt x="989" y="7099"/>
                  </a:cubicBezTo>
                  <a:cubicBezTo>
                    <a:pt x="1195" y="7099"/>
                    <a:pt x="1403" y="7023"/>
                    <a:pt x="1560" y="6870"/>
                  </a:cubicBezTo>
                  <a:cubicBezTo>
                    <a:pt x="1975" y="6455"/>
                    <a:pt x="1809" y="5725"/>
                    <a:pt x="1258" y="5542"/>
                  </a:cubicBezTo>
                  <a:lnTo>
                    <a:pt x="1258" y="4009"/>
                  </a:lnTo>
                  <a:cubicBezTo>
                    <a:pt x="1477" y="3926"/>
                    <a:pt x="1673" y="3733"/>
                    <a:pt x="1756" y="3511"/>
                  </a:cubicBezTo>
                  <a:lnTo>
                    <a:pt x="3276" y="3511"/>
                  </a:lnTo>
                  <a:cubicBezTo>
                    <a:pt x="3396" y="3854"/>
                    <a:pt x="3722" y="4048"/>
                    <a:pt x="4049" y="4048"/>
                  </a:cubicBezTo>
                  <a:cubicBezTo>
                    <a:pt x="4250" y="4048"/>
                    <a:pt x="4451" y="3974"/>
                    <a:pt x="4604" y="3816"/>
                  </a:cubicBezTo>
                  <a:cubicBezTo>
                    <a:pt x="4963" y="3468"/>
                    <a:pt x="4910" y="2847"/>
                    <a:pt x="4481" y="2571"/>
                  </a:cubicBezTo>
                  <a:lnTo>
                    <a:pt x="4730" y="1602"/>
                  </a:lnTo>
                  <a:cubicBezTo>
                    <a:pt x="5129" y="1575"/>
                    <a:pt x="5461" y="1214"/>
                    <a:pt x="5447" y="799"/>
                  </a:cubicBezTo>
                  <a:cubicBezTo>
                    <a:pt x="5456" y="321"/>
                    <a:pt x="5058" y="0"/>
                    <a:pt x="4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2"/>
            <p:cNvSpPr/>
            <p:nvPr/>
          </p:nvSpPr>
          <p:spPr>
            <a:xfrm>
              <a:off x="4847050" y="1608075"/>
              <a:ext cx="107575" cy="13125"/>
            </a:xfrm>
            <a:custGeom>
              <a:rect b="b" l="l" r="r" t="t"/>
              <a:pathLst>
                <a:path extrusionOk="0" h="525" w="4303">
                  <a:moveTo>
                    <a:pt x="346" y="0"/>
                  </a:moveTo>
                  <a:cubicBezTo>
                    <a:pt x="1" y="14"/>
                    <a:pt x="1" y="511"/>
                    <a:pt x="346" y="525"/>
                  </a:cubicBezTo>
                  <a:lnTo>
                    <a:pt x="3997" y="525"/>
                  </a:lnTo>
                  <a:cubicBezTo>
                    <a:pt x="4137" y="525"/>
                    <a:pt x="4260" y="428"/>
                    <a:pt x="4273" y="302"/>
                  </a:cubicBezTo>
                  <a:cubicBezTo>
                    <a:pt x="4303" y="136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2"/>
            <p:cNvSpPr/>
            <p:nvPr/>
          </p:nvSpPr>
          <p:spPr>
            <a:xfrm>
              <a:off x="4847050" y="1638450"/>
              <a:ext cx="107575" cy="13225"/>
            </a:xfrm>
            <a:custGeom>
              <a:rect b="b" l="l" r="r" t="t"/>
              <a:pathLst>
                <a:path extrusionOk="0" h="529" w="4303">
                  <a:moveTo>
                    <a:pt x="346" y="0"/>
                  </a:moveTo>
                  <a:cubicBezTo>
                    <a:pt x="1" y="17"/>
                    <a:pt x="1" y="515"/>
                    <a:pt x="346" y="528"/>
                  </a:cubicBezTo>
                  <a:lnTo>
                    <a:pt x="3997" y="528"/>
                  </a:lnTo>
                  <a:cubicBezTo>
                    <a:pt x="4137" y="528"/>
                    <a:pt x="4260" y="445"/>
                    <a:pt x="4273" y="306"/>
                  </a:cubicBezTo>
                  <a:cubicBezTo>
                    <a:pt x="4303" y="140"/>
                    <a:pt x="4177" y="0"/>
                    <a:pt x="40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2"/>
            <p:cNvSpPr/>
            <p:nvPr/>
          </p:nvSpPr>
          <p:spPr>
            <a:xfrm>
              <a:off x="4848800" y="1669575"/>
              <a:ext cx="61525" cy="13200"/>
            </a:xfrm>
            <a:custGeom>
              <a:rect b="b" l="l" r="r" t="t"/>
              <a:pathLst>
                <a:path extrusionOk="0" h="528" w="2461">
                  <a:moveTo>
                    <a:pt x="276" y="0"/>
                  </a:moveTo>
                  <a:cubicBezTo>
                    <a:pt x="123" y="0"/>
                    <a:pt x="0" y="139"/>
                    <a:pt x="14" y="305"/>
                  </a:cubicBezTo>
                  <a:cubicBezTo>
                    <a:pt x="40" y="445"/>
                    <a:pt x="153" y="528"/>
                    <a:pt x="289" y="528"/>
                  </a:cubicBezTo>
                  <a:lnTo>
                    <a:pt x="2115" y="528"/>
                  </a:lnTo>
                  <a:cubicBezTo>
                    <a:pt x="2460" y="515"/>
                    <a:pt x="2460" y="17"/>
                    <a:pt x="21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2"/>
            <p:cNvSpPr/>
            <p:nvPr/>
          </p:nvSpPr>
          <p:spPr>
            <a:xfrm>
              <a:off x="4848800" y="1700025"/>
              <a:ext cx="61525" cy="13125"/>
            </a:xfrm>
            <a:custGeom>
              <a:rect b="b" l="l" r="r" t="t"/>
              <a:pathLst>
                <a:path extrusionOk="0" h="525" w="2461">
                  <a:moveTo>
                    <a:pt x="276" y="0"/>
                  </a:moveTo>
                  <a:cubicBezTo>
                    <a:pt x="123" y="0"/>
                    <a:pt x="0" y="140"/>
                    <a:pt x="14" y="306"/>
                  </a:cubicBezTo>
                  <a:cubicBezTo>
                    <a:pt x="40" y="442"/>
                    <a:pt x="153" y="525"/>
                    <a:pt x="289" y="525"/>
                  </a:cubicBezTo>
                  <a:lnTo>
                    <a:pt x="2115" y="525"/>
                  </a:lnTo>
                  <a:cubicBezTo>
                    <a:pt x="2460" y="525"/>
                    <a:pt x="2460" y="14"/>
                    <a:pt x="21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62"/>
          <p:cNvGrpSpPr/>
          <p:nvPr/>
        </p:nvGrpSpPr>
        <p:grpSpPr>
          <a:xfrm>
            <a:off x="1235847" y="3153850"/>
            <a:ext cx="339550" cy="339275"/>
            <a:chOff x="5543825" y="1573475"/>
            <a:chExt cx="339550" cy="339275"/>
          </a:xfrm>
        </p:grpSpPr>
        <p:sp>
          <p:nvSpPr>
            <p:cNvPr id="1281" name="Google Shape;1281;p62"/>
            <p:cNvSpPr/>
            <p:nvPr/>
          </p:nvSpPr>
          <p:spPr>
            <a:xfrm>
              <a:off x="5543825" y="1573475"/>
              <a:ext cx="339550" cy="339275"/>
            </a:xfrm>
            <a:custGeom>
              <a:rect b="b" l="l" r="r" t="t"/>
              <a:pathLst>
                <a:path extrusionOk="0" h="13571" w="13582">
                  <a:moveTo>
                    <a:pt x="12781" y="541"/>
                  </a:moveTo>
                  <a:cubicBezTo>
                    <a:pt x="12934" y="541"/>
                    <a:pt x="13057" y="651"/>
                    <a:pt x="13057" y="803"/>
                  </a:cubicBezTo>
                  <a:lnTo>
                    <a:pt x="13057" y="1882"/>
                  </a:lnTo>
                  <a:cubicBezTo>
                    <a:pt x="13057" y="2035"/>
                    <a:pt x="12934" y="2144"/>
                    <a:pt x="12781" y="2144"/>
                  </a:cubicBezTo>
                  <a:lnTo>
                    <a:pt x="7413" y="2144"/>
                  </a:lnTo>
                  <a:cubicBezTo>
                    <a:pt x="7261" y="2144"/>
                    <a:pt x="7138" y="2035"/>
                    <a:pt x="7138" y="1882"/>
                  </a:cubicBezTo>
                  <a:lnTo>
                    <a:pt x="7138" y="803"/>
                  </a:lnTo>
                  <a:cubicBezTo>
                    <a:pt x="7138" y="651"/>
                    <a:pt x="7261" y="541"/>
                    <a:pt x="7413" y="541"/>
                  </a:cubicBezTo>
                  <a:close/>
                  <a:moveTo>
                    <a:pt x="12781" y="2682"/>
                  </a:moveTo>
                  <a:cubicBezTo>
                    <a:pt x="12934" y="2682"/>
                    <a:pt x="13057" y="2795"/>
                    <a:pt x="13057" y="2948"/>
                  </a:cubicBezTo>
                  <a:lnTo>
                    <a:pt x="13057" y="4027"/>
                  </a:lnTo>
                  <a:cubicBezTo>
                    <a:pt x="13057" y="4176"/>
                    <a:pt x="12934" y="4289"/>
                    <a:pt x="12781" y="4289"/>
                  </a:cubicBezTo>
                  <a:lnTo>
                    <a:pt x="7413" y="4289"/>
                  </a:lnTo>
                  <a:cubicBezTo>
                    <a:pt x="7261" y="4289"/>
                    <a:pt x="7138" y="4176"/>
                    <a:pt x="7138" y="4027"/>
                  </a:cubicBezTo>
                  <a:lnTo>
                    <a:pt x="7138" y="2948"/>
                  </a:lnTo>
                  <a:cubicBezTo>
                    <a:pt x="7138" y="2795"/>
                    <a:pt x="7261" y="2682"/>
                    <a:pt x="7413" y="2682"/>
                  </a:cubicBezTo>
                  <a:close/>
                  <a:moveTo>
                    <a:pt x="12781" y="4827"/>
                  </a:moveTo>
                  <a:cubicBezTo>
                    <a:pt x="12934" y="4827"/>
                    <a:pt x="13057" y="4953"/>
                    <a:pt x="13057" y="5089"/>
                  </a:cubicBezTo>
                  <a:lnTo>
                    <a:pt x="13057" y="6168"/>
                  </a:lnTo>
                  <a:cubicBezTo>
                    <a:pt x="13057" y="6320"/>
                    <a:pt x="12934" y="6447"/>
                    <a:pt x="12781" y="6447"/>
                  </a:cubicBezTo>
                  <a:lnTo>
                    <a:pt x="7413" y="6447"/>
                  </a:lnTo>
                  <a:cubicBezTo>
                    <a:pt x="7261" y="6447"/>
                    <a:pt x="7138" y="6320"/>
                    <a:pt x="7138" y="6168"/>
                  </a:cubicBezTo>
                  <a:lnTo>
                    <a:pt x="7138" y="5089"/>
                  </a:lnTo>
                  <a:cubicBezTo>
                    <a:pt x="7138" y="4953"/>
                    <a:pt x="7261" y="4827"/>
                    <a:pt x="7413" y="4827"/>
                  </a:cubicBezTo>
                  <a:close/>
                  <a:moveTo>
                    <a:pt x="6667" y="4302"/>
                  </a:moveTo>
                  <a:cubicBezTo>
                    <a:pt x="6693" y="4398"/>
                    <a:pt x="6750" y="4481"/>
                    <a:pt x="6819" y="4564"/>
                  </a:cubicBezTo>
                  <a:cubicBezTo>
                    <a:pt x="6693" y="4704"/>
                    <a:pt x="6610" y="4896"/>
                    <a:pt x="6610" y="5089"/>
                  </a:cubicBezTo>
                  <a:lnTo>
                    <a:pt x="6610" y="6168"/>
                  </a:lnTo>
                  <a:cubicBezTo>
                    <a:pt x="6610" y="6613"/>
                    <a:pt x="6972" y="6971"/>
                    <a:pt x="7413" y="6971"/>
                  </a:cubicBezTo>
                  <a:lnTo>
                    <a:pt x="9282" y="6971"/>
                  </a:lnTo>
                  <a:cubicBezTo>
                    <a:pt x="9075" y="8407"/>
                    <a:pt x="7974" y="9105"/>
                    <a:pt x="6878" y="9105"/>
                  </a:cubicBezTo>
                  <a:cubicBezTo>
                    <a:pt x="5692" y="9105"/>
                    <a:pt x="4512" y="8290"/>
                    <a:pt x="4469" y="6709"/>
                  </a:cubicBezTo>
                  <a:cubicBezTo>
                    <a:pt x="4469" y="5451"/>
                    <a:pt x="5435" y="4412"/>
                    <a:pt x="6667" y="4302"/>
                  </a:cubicBezTo>
                  <a:close/>
                  <a:moveTo>
                    <a:pt x="3832" y="9321"/>
                  </a:moveTo>
                  <a:cubicBezTo>
                    <a:pt x="3971" y="9474"/>
                    <a:pt x="4107" y="9613"/>
                    <a:pt x="4260" y="9736"/>
                  </a:cubicBezTo>
                  <a:lnTo>
                    <a:pt x="3888" y="10138"/>
                  </a:lnTo>
                  <a:lnTo>
                    <a:pt x="3430" y="9696"/>
                  </a:lnTo>
                  <a:lnTo>
                    <a:pt x="3832" y="9321"/>
                  </a:lnTo>
                  <a:close/>
                  <a:moveTo>
                    <a:pt x="6610" y="3223"/>
                  </a:moveTo>
                  <a:lnTo>
                    <a:pt x="6610" y="3778"/>
                  </a:lnTo>
                  <a:cubicBezTo>
                    <a:pt x="5133" y="3874"/>
                    <a:pt x="3901" y="5215"/>
                    <a:pt x="3928" y="6709"/>
                  </a:cubicBezTo>
                  <a:cubicBezTo>
                    <a:pt x="3928" y="8326"/>
                    <a:pt x="5256" y="9653"/>
                    <a:pt x="6876" y="9653"/>
                  </a:cubicBezTo>
                  <a:cubicBezTo>
                    <a:pt x="6893" y="9654"/>
                    <a:pt x="6911" y="9654"/>
                    <a:pt x="6929" y="9654"/>
                  </a:cubicBezTo>
                  <a:cubicBezTo>
                    <a:pt x="8401" y="9654"/>
                    <a:pt x="9712" y="8434"/>
                    <a:pt x="9807" y="6971"/>
                  </a:cubicBezTo>
                  <a:lnTo>
                    <a:pt x="10361" y="6971"/>
                  </a:lnTo>
                  <a:cubicBezTo>
                    <a:pt x="10222" y="8770"/>
                    <a:pt x="8701" y="10194"/>
                    <a:pt x="6876" y="10194"/>
                  </a:cubicBezTo>
                  <a:cubicBezTo>
                    <a:pt x="2408" y="10042"/>
                    <a:pt x="2198" y="3721"/>
                    <a:pt x="6610" y="3223"/>
                  </a:cubicBezTo>
                  <a:close/>
                  <a:moveTo>
                    <a:pt x="3058" y="10055"/>
                  </a:moveTo>
                  <a:lnTo>
                    <a:pt x="3526" y="10526"/>
                  </a:lnTo>
                  <a:lnTo>
                    <a:pt x="1285" y="12907"/>
                  </a:lnTo>
                  <a:cubicBezTo>
                    <a:pt x="1211" y="12987"/>
                    <a:pt x="1101" y="13025"/>
                    <a:pt x="991" y="13025"/>
                  </a:cubicBezTo>
                  <a:cubicBezTo>
                    <a:pt x="874" y="13025"/>
                    <a:pt x="756" y="12983"/>
                    <a:pt x="678" y="12907"/>
                  </a:cubicBezTo>
                  <a:cubicBezTo>
                    <a:pt x="512" y="12741"/>
                    <a:pt x="499" y="12448"/>
                    <a:pt x="678" y="12282"/>
                  </a:cubicBezTo>
                  <a:lnTo>
                    <a:pt x="3058" y="10055"/>
                  </a:lnTo>
                  <a:close/>
                  <a:moveTo>
                    <a:pt x="7413" y="0"/>
                  </a:moveTo>
                  <a:cubicBezTo>
                    <a:pt x="6972" y="0"/>
                    <a:pt x="6610" y="359"/>
                    <a:pt x="6610" y="803"/>
                  </a:cubicBezTo>
                  <a:lnTo>
                    <a:pt x="6610" y="1882"/>
                  </a:lnTo>
                  <a:cubicBezTo>
                    <a:pt x="6610" y="2088"/>
                    <a:pt x="6693" y="2267"/>
                    <a:pt x="6819" y="2407"/>
                  </a:cubicBezTo>
                  <a:cubicBezTo>
                    <a:pt x="6750" y="2490"/>
                    <a:pt x="6693" y="2586"/>
                    <a:pt x="6653" y="2699"/>
                  </a:cubicBezTo>
                  <a:cubicBezTo>
                    <a:pt x="3583" y="2835"/>
                    <a:pt x="1827" y="6364"/>
                    <a:pt x="3513" y="8906"/>
                  </a:cubicBezTo>
                  <a:lnTo>
                    <a:pt x="303" y="11911"/>
                  </a:lnTo>
                  <a:cubicBezTo>
                    <a:pt x="124" y="12090"/>
                    <a:pt x="14" y="12326"/>
                    <a:pt x="14" y="12575"/>
                  </a:cubicBezTo>
                  <a:cubicBezTo>
                    <a:pt x="1" y="13105"/>
                    <a:pt x="456" y="13571"/>
                    <a:pt x="988" y="13571"/>
                  </a:cubicBezTo>
                  <a:cubicBezTo>
                    <a:pt x="995" y="13571"/>
                    <a:pt x="1003" y="13571"/>
                    <a:pt x="1010" y="13570"/>
                  </a:cubicBezTo>
                  <a:cubicBezTo>
                    <a:pt x="1259" y="13570"/>
                    <a:pt x="1495" y="13458"/>
                    <a:pt x="1674" y="13278"/>
                  </a:cubicBezTo>
                  <a:lnTo>
                    <a:pt x="4688" y="10068"/>
                  </a:lnTo>
                  <a:cubicBezTo>
                    <a:pt x="5365" y="10522"/>
                    <a:pt x="6113" y="10728"/>
                    <a:pt x="6848" y="10728"/>
                  </a:cubicBezTo>
                  <a:cubicBezTo>
                    <a:pt x="8852" y="10728"/>
                    <a:pt x="10764" y="9198"/>
                    <a:pt x="10886" y="6971"/>
                  </a:cubicBezTo>
                  <a:lnTo>
                    <a:pt x="12781" y="6971"/>
                  </a:lnTo>
                  <a:cubicBezTo>
                    <a:pt x="13223" y="6971"/>
                    <a:pt x="13581" y="6613"/>
                    <a:pt x="13581" y="6168"/>
                  </a:cubicBezTo>
                  <a:lnTo>
                    <a:pt x="13581" y="5089"/>
                  </a:lnTo>
                  <a:cubicBezTo>
                    <a:pt x="13581" y="4883"/>
                    <a:pt x="13498" y="4704"/>
                    <a:pt x="13375" y="4564"/>
                  </a:cubicBezTo>
                  <a:cubicBezTo>
                    <a:pt x="13498" y="4412"/>
                    <a:pt x="13581" y="4232"/>
                    <a:pt x="13581" y="4027"/>
                  </a:cubicBezTo>
                  <a:lnTo>
                    <a:pt x="13581" y="2948"/>
                  </a:lnTo>
                  <a:cubicBezTo>
                    <a:pt x="13581" y="2739"/>
                    <a:pt x="13498" y="2559"/>
                    <a:pt x="13375" y="2407"/>
                  </a:cubicBezTo>
                  <a:cubicBezTo>
                    <a:pt x="13498" y="2267"/>
                    <a:pt x="13581" y="2088"/>
                    <a:pt x="13581" y="1882"/>
                  </a:cubicBezTo>
                  <a:lnTo>
                    <a:pt x="13581" y="803"/>
                  </a:lnTo>
                  <a:cubicBezTo>
                    <a:pt x="13581" y="359"/>
                    <a:pt x="13223" y="0"/>
                    <a:pt x="12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2"/>
            <p:cNvSpPr/>
            <p:nvPr/>
          </p:nvSpPr>
          <p:spPr>
            <a:xfrm>
              <a:off x="5768900" y="1600100"/>
              <a:ext cx="52975" cy="13150"/>
            </a:xfrm>
            <a:custGeom>
              <a:rect b="b" l="l" r="r" t="t"/>
              <a:pathLst>
                <a:path extrusionOk="0" h="526" w="2119">
                  <a:moveTo>
                    <a:pt x="362" y="1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9"/>
                    <a:pt x="2089" y="223"/>
                  </a:cubicBezTo>
                  <a:cubicBezTo>
                    <a:pt x="2075" y="97"/>
                    <a:pt x="1952" y="1"/>
                    <a:pt x="18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2"/>
            <p:cNvSpPr/>
            <p:nvPr/>
          </p:nvSpPr>
          <p:spPr>
            <a:xfrm>
              <a:off x="5739525" y="1600100"/>
              <a:ext cx="13125" cy="13300"/>
            </a:xfrm>
            <a:custGeom>
              <a:rect b="b" l="l" r="r" t="t"/>
              <a:pathLst>
                <a:path extrusionOk="0" h="532" w="525">
                  <a:moveTo>
                    <a:pt x="263" y="1"/>
                  </a:moveTo>
                  <a:cubicBezTo>
                    <a:pt x="110" y="1"/>
                    <a:pt x="0" y="123"/>
                    <a:pt x="0" y="263"/>
                  </a:cubicBezTo>
                  <a:cubicBezTo>
                    <a:pt x="0" y="442"/>
                    <a:pt x="128" y="532"/>
                    <a:pt x="258" y="532"/>
                  </a:cubicBezTo>
                  <a:cubicBezTo>
                    <a:pt x="387" y="532"/>
                    <a:pt x="518" y="442"/>
                    <a:pt x="525" y="263"/>
                  </a:cubicBezTo>
                  <a:cubicBezTo>
                    <a:pt x="525" y="123"/>
                    <a:pt x="402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2"/>
            <p:cNvSpPr/>
            <p:nvPr/>
          </p:nvSpPr>
          <p:spPr>
            <a:xfrm>
              <a:off x="5768900" y="1707325"/>
              <a:ext cx="52975" cy="13125"/>
            </a:xfrm>
            <a:custGeom>
              <a:rect b="b" l="l" r="r" t="t"/>
              <a:pathLst>
                <a:path extrusionOk="0" h="525" w="2119">
                  <a:moveTo>
                    <a:pt x="362" y="0"/>
                  </a:moveTo>
                  <a:cubicBezTo>
                    <a:pt x="1" y="14"/>
                    <a:pt x="1" y="512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6"/>
                    <a:pt x="2089" y="220"/>
                  </a:cubicBezTo>
                  <a:cubicBezTo>
                    <a:pt x="2075" y="97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2"/>
            <p:cNvSpPr/>
            <p:nvPr/>
          </p:nvSpPr>
          <p:spPr>
            <a:xfrm>
              <a:off x="5739525" y="1707325"/>
              <a:ext cx="13125" cy="13375"/>
            </a:xfrm>
            <a:custGeom>
              <a:rect b="b" l="l" r="r" t="t"/>
              <a:pathLst>
                <a:path extrusionOk="0" h="535" w="525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9"/>
                    <a:pt x="128" y="535"/>
                    <a:pt x="258" y="535"/>
                  </a:cubicBezTo>
                  <a:cubicBezTo>
                    <a:pt x="387" y="535"/>
                    <a:pt x="518" y="449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2"/>
            <p:cNvSpPr/>
            <p:nvPr/>
          </p:nvSpPr>
          <p:spPr>
            <a:xfrm>
              <a:off x="5768900" y="1653725"/>
              <a:ext cx="52975" cy="13125"/>
            </a:xfrm>
            <a:custGeom>
              <a:rect b="b" l="l" r="r" t="t"/>
              <a:pathLst>
                <a:path extrusionOk="0" h="525" w="2119">
                  <a:moveTo>
                    <a:pt x="362" y="0"/>
                  </a:moveTo>
                  <a:cubicBezTo>
                    <a:pt x="1" y="13"/>
                    <a:pt x="1" y="511"/>
                    <a:pt x="362" y="525"/>
                  </a:cubicBezTo>
                  <a:lnTo>
                    <a:pt x="1826" y="525"/>
                  </a:lnTo>
                  <a:cubicBezTo>
                    <a:pt x="1992" y="525"/>
                    <a:pt x="2118" y="385"/>
                    <a:pt x="2089" y="219"/>
                  </a:cubicBezTo>
                  <a:cubicBezTo>
                    <a:pt x="2075" y="96"/>
                    <a:pt x="1952" y="0"/>
                    <a:pt x="18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2"/>
            <p:cNvSpPr/>
            <p:nvPr/>
          </p:nvSpPr>
          <p:spPr>
            <a:xfrm>
              <a:off x="5739525" y="1653725"/>
              <a:ext cx="13125" cy="13375"/>
            </a:xfrm>
            <a:custGeom>
              <a:rect b="b" l="l" r="r" t="t"/>
              <a:pathLst>
                <a:path extrusionOk="0" h="535" w="525">
                  <a:moveTo>
                    <a:pt x="263" y="0"/>
                  </a:moveTo>
                  <a:cubicBezTo>
                    <a:pt x="110" y="0"/>
                    <a:pt x="0" y="123"/>
                    <a:pt x="0" y="276"/>
                  </a:cubicBezTo>
                  <a:cubicBezTo>
                    <a:pt x="0" y="448"/>
                    <a:pt x="128" y="534"/>
                    <a:pt x="258" y="534"/>
                  </a:cubicBezTo>
                  <a:cubicBezTo>
                    <a:pt x="387" y="534"/>
                    <a:pt x="518" y="448"/>
                    <a:pt x="525" y="276"/>
                  </a:cubicBezTo>
                  <a:cubicBezTo>
                    <a:pt x="525" y="123"/>
                    <a:pt x="402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3"/>
          <p:cNvSpPr txBox="1"/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